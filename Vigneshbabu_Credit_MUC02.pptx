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5.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6.xml" ContentType="application/vnd.openxmlformats-officedocument.drawingml.chart+xml"/>
  <Override PartName="/ppt/notesSlides/notesSlide21.xml" ContentType="application/vnd.openxmlformats-officedocument.presentationml.notesSlide+xml"/>
  <Override PartName="/ppt/charts/chart7.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8.xml" ContentType="application/vnd.openxmlformats-officedocument.drawingml.chart+xml"/>
  <Override PartName="/ppt/notesSlides/notesSlide24.xml" ContentType="application/vnd.openxmlformats-officedocument.presentationml.notesSlide+xml"/>
  <Override PartName="/ppt/charts/chart9.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12.xml" ContentType="application/vnd.openxmlformats-officedocument.drawingml.chart+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85" r:id="rId3"/>
    <p:sldId id="283" r:id="rId4"/>
    <p:sldId id="257" r:id="rId5"/>
    <p:sldId id="258" r:id="rId6"/>
    <p:sldId id="259" r:id="rId7"/>
    <p:sldId id="260" r:id="rId8"/>
    <p:sldId id="284"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265" autoAdjust="0"/>
    <p:restoredTop sz="94610"/>
  </p:normalViewPr>
  <p:slideViewPr>
    <p:cSldViewPr snapToGrid="0" snapToObjects="1">
      <p:cViewPr>
        <p:scale>
          <a:sx n="75" d="100"/>
          <a:sy n="75" d="100"/>
        </p:scale>
        <p:origin x="1085" y="6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1.xml"/><Relationship Id="rId1" Type="http://schemas.microsoft.com/office/2011/relationships/chartStyle" Target="style1.xm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11111"/>
                </a:solidFill>
                <a:latin typeface="Calibri"/>
              </a:defRPr>
            </a:pPr>
            <a:r>
              <a:rPr lang="en-US" sz="1300" b="0" i="0" u="none" strike="noStrike">
                <a:solidFill>
                  <a:srgbClr val="111111"/>
                </a:solidFill>
                <a:latin typeface="Calibri"/>
              </a:rPr>
              <a:t>Approval % by credit score band</a:t>
            </a:r>
          </a:p>
        </c:rich>
      </c:tx>
      <c:overlay val="0"/>
    </c:title>
    <c:autoTitleDeleted val="0"/>
    <c:plotArea>
      <c:layout/>
      <c:barChart>
        <c:barDir val="col"/>
        <c:grouping val="clustered"/>
        <c:varyColors val="0"/>
        <c:ser>
          <c:idx val="0"/>
          <c:order val="0"/>
          <c:tx>
            <c:strRef>
              <c:f>Sheet1!$B$1</c:f>
              <c:strCache>
                <c:ptCount val="1"/>
                <c:pt idx="0">
                  <c:v>Approval %</c:v>
                </c:pt>
              </c:strCache>
            </c:strRef>
          </c:tx>
          <c:spPr>
            <a:solidFill>
              <a:srgbClr val="1565C0"/>
            </a:solidFill>
            <a:effectLst/>
          </c:spPr>
          <c:invertIfNegative val="0"/>
          <c:dLbls>
            <c:numFmt formatCode="0" sourceLinked="0"/>
            <c:spPr>
              <a:noFill/>
              <a:ln>
                <a:noFill/>
              </a:ln>
              <a:effectLst/>
            </c:spPr>
            <c:txPr>
              <a:bodyPr/>
              <a:lstStyle/>
              <a:p>
                <a:pPr>
                  <a:defRPr sz="11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&lt;600</c:v>
                </c:pt>
                <c:pt idx="1">
                  <c:v>600-649</c:v>
                </c:pt>
                <c:pt idx="2">
                  <c:v>650-699</c:v>
                </c:pt>
                <c:pt idx="3">
                  <c:v>700-749</c:v>
                </c:pt>
                <c:pt idx="4">
                  <c:v>750-799</c:v>
                </c:pt>
                <c:pt idx="5">
                  <c:v>800+</c:v>
                </c:pt>
                <c:pt idx="6">
                  <c:v>No score</c:v>
                </c:pt>
              </c:strCache>
            </c:strRef>
          </c:cat>
          <c:val>
            <c:numRef>
              <c:f>Sheet1!$B$2:$B$8</c:f>
              <c:numCache>
                <c:formatCode>General</c:formatCode>
                <c:ptCount val="7"/>
                <c:pt idx="0">
                  <c:v>2</c:v>
                </c:pt>
                <c:pt idx="1">
                  <c:v>3.2</c:v>
                </c:pt>
                <c:pt idx="2">
                  <c:v>32.5</c:v>
                </c:pt>
                <c:pt idx="3">
                  <c:v>54.4</c:v>
                </c:pt>
                <c:pt idx="4">
                  <c:v>77.2</c:v>
                </c:pt>
                <c:pt idx="5">
                  <c:v>85.2</c:v>
                </c:pt>
                <c:pt idx="6">
                  <c:v>53.9</c:v>
                </c:pt>
              </c:numCache>
            </c:numRef>
          </c:val>
          <c:extLst>
            <c:ext xmlns:c16="http://schemas.microsoft.com/office/drawing/2014/chart" uri="{C3380CC4-5D6E-409C-BE32-E72D297353CC}">
              <c16:uniqueId val="{00000000-3396-4116-8657-D2E11F31E34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E3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11111"/>
                </a:solidFill>
                <a:latin typeface="Calibri"/>
              </a:defRPr>
            </a:pPr>
            <a:r>
              <a:rPr lang="en-US" sz="1300" b="0" i="0" u="none" strike="noStrike">
                <a:solidFill>
                  <a:srgbClr val="111111"/>
                </a:solidFill>
                <a:latin typeface="Calibri"/>
              </a:rPr>
              <a:t>Approval % by FOIR band</a:t>
            </a:r>
          </a:p>
        </c:rich>
      </c:tx>
      <c:overlay val="0"/>
    </c:title>
    <c:autoTitleDeleted val="0"/>
    <c:plotArea>
      <c:layout/>
      <c:barChart>
        <c:barDir val="col"/>
        <c:grouping val="clustered"/>
        <c:varyColors val="0"/>
        <c:ser>
          <c:idx val="0"/>
          <c:order val="0"/>
          <c:tx>
            <c:strRef>
              <c:f>Sheet1!$B$1</c:f>
              <c:strCache>
                <c:ptCount val="1"/>
                <c:pt idx="0">
                  <c:v>Approval %</c:v>
                </c:pt>
              </c:strCache>
            </c:strRef>
          </c:tx>
          <c:spPr>
            <a:solidFill>
              <a:srgbClr val="F57C00"/>
            </a:solidFill>
            <a:effectLst/>
          </c:spPr>
          <c:invertIfNegative val="0"/>
          <c:dLbls>
            <c:numFmt formatCode="0" sourceLinked="0"/>
            <c:spPr>
              <a:noFill/>
              <a:ln>
                <a:noFill/>
              </a:ln>
              <a:effectLst/>
            </c:spPr>
            <c:txPr>
              <a:bodyPr/>
              <a:lstStyle/>
              <a:p>
                <a:pPr>
                  <a:defRPr sz="11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&lt;30%</c:v>
                </c:pt>
                <c:pt idx="1">
                  <c:v>30-40%</c:v>
                </c:pt>
                <c:pt idx="2">
                  <c:v>40-50%</c:v>
                </c:pt>
                <c:pt idx="3">
                  <c:v>50-55%</c:v>
                </c:pt>
                <c:pt idx="4">
                  <c:v>&gt;55%</c:v>
                </c:pt>
              </c:strCache>
            </c:strRef>
          </c:cat>
          <c:val>
            <c:numRef>
              <c:f>Sheet1!$B$2:$B$6</c:f>
              <c:numCache>
                <c:formatCode>General</c:formatCode>
                <c:ptCount val="5"/>
                <c:pt idx="0">
                  <c:v>65.5</c:v>
                </c:pt>
                <c:pt idx="1">
                  <c:v>59</c:v>
                </c:pt>
                <c:pt idx="2">
                  <c:v>47.8</c:v>
                </c:pt>
                <c:pt idx="3">
                  <c:v>32.4</c:v>
                </c:pt>
                <c:pt idx="4">
                  <c:v>15.6</c:v>
                </c:pt>
              </c:numCache>
            </c:numRef>
          </c:val>
          <c:extLst>
            <c:ext xmlns:c16="http://schemas.microsoft.com/office/drawing/2014/chart" uri="{C3380CC4-5D6E-409C-BE32-E72D297353CC}">
              <c16:uniqueId val="{00000000-B767-4CAA-937C-759B7288A94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E3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11111"/>
                </a:solidFill>
                <a:latin typeface="Calibri"/>
              </a:defRPr>
            </a:pPr>
            <a:r>
              <a:rPr lang="en-US" sz="1300" b="0" i="0" u="none" strike="noStrike">
                <a:solidFill>
                  <a:srgbClr val="111111"/>
                </a:solidFill>
                <a:latin typeface="Calibri"/>
              </a:rPr>
              <a:t>Approval % by employment type</a:t>
            </a:r>
          </a:p>
        </c:rich>
      </c:tx>
      <c:overlay val="0"/>
    </c:title>
    <c:autoTitleDeleted val="0"/>
    <c:plotArea>
      <c:layout/>
      <c:barChart>
        <c:barDir val="col"/>
        <c:grouping val="clustered"/>
        <c:varyColors val="0"/>
        <c:ser>
          <c:idx val="0"/>
          <c:order val="0"/>
          <c:tx>
            <c:strRef>
              <c:f>Sheet1!$B$1</c:f>
              <c:strCache>
                <c:ptCount val="1"/>
                <c:pt idx="0">
                  <c:v>Approval %</c:v>
                </c:pt>
              </c:strCache>
            </c:strRef>
          </c:tx>
          <c:spPr>
            <a:solidFill>
              <a:srgbClr val="1565C0"/>
            </a:solidFill>
            <a:effectLst/>
          </c:spPr>
          <c:invertIfNegative val="0"/>
          <c:dPt>
            <c:idx val="0"/>
            <c:invertIfNegative val="0"/>
            <c:bubble3D val="0"/>
            <c:extLst>
              <c:ext xmlns:c16="http://schemas.microsoft.com/office/drawing/2014/chart" uri="{C3380CC4-5D6E-409C-BE32-E72D297353CC}">
                <c16:uniqueId val="{00000001-7BE1-4783-9025-F6B1D3EBC738}"/>
              </c:ext>
            </c:extLst>
          </c:dPt>
          <c:dPt>
            <c:idx val="1"/>
            <c:invertIfNegative val="0"/>
            <c:bubble3D val="0"/>
            <c:extLst>
              <c:ext xmlns:c16="http://schemas.microsoft.com/office/drawing/2014/chart" uri="{C3380CC4-5D6E-409C-BE32-E72D297353CC}">
                <c16:uniqueId val="{00000003-7BE1-4783-9025-F6B1D3EBC738}"/>
              </c:ext>
            </c:extLst>
          </c:dPt>
          <c:dPt>
            <c:idx val="2"/>
            <c:invertIfNegative val="0"/>
            <c:bubble3D val="0"/>
            <c:extLst>
              <c:ext xmlns:c16="http://schemas.microsoft.com/office/drawing/2014/chart" uri="{C3380CC4-5D6E-409C-BE32-E72D297353CC}">
                <c16:uniqueId val="{00000005-7BE1-4783-9025-F6B1D3EBC738}"/>
              </c:ext>
            </c:extLst>
          </c:dPt>
          <c:dPt>
            <c:idx val="3"/>
            <c:invertIfNegative val="0"/>
            <c:bubble3D val="0"/>
            <c:spPr>
              <a:solidFill>
                <a:srgbClr val="F57C00"/>
              </a:solidFill>
              <a:effectLst/>
            </c:spPr>
            <c:extLst>
              <c:ext xmlns:c16="http://schemas.microsoft.com/office/drawing/2014/chart" uri="{C3380CC4-5D6E-409C-BE32-E72D297353CC}">
                <c16:uniqueId val="{00000007-7BE1-4783-9025-F6B1D3EBC738}"/>
              </c:ext>
            </c:extLst>
          </c:dPt>
          <c:dLbls>
            <c:numFmt formatCode="0.0" sourceLinked="0"/>
            <c:spPr>
              <a:noFill/>
              <a:ln>
                <a:noFill/>
              </a:ln>
              <a:effectLst/>
            </c:spPr>
            <c:txPr>
              <a:bodyPr/>
              <a:lstStyle/>
              <a:p>
                <a:pPr>
                  <a:defRPr sz="11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Salaried</c:v>
                </c:pt>
                <c:pt idx="1">
                  <c:v>Business Owner</c:v>
                </c:pt>
                <c:pt idx="2">
                  <c:v>Self-Employed</c:v>
                </c:pt>
                <c:pt idx="3">
                  <c:v>Gig / Contract</c:v>
                </c:pt>
              </c:strCache>
            </c:strRef>
          </c:cat>
          <c:val>
            <c:numRef>
              <c:f>Sheet1!$B$2:$B$5</c:f>
              <c:numCache>
                <c:formatCode>General</c:formatCode>
                <c:ptCount val="4"/>
                <c:pt idx="0">
                  <c:v>58.4</c:v>
                </c:pt>
                <c:pt idx="1">
                  <c:v>51.2</c:v>
                </c:pt>
                <c:pt idx="2">
                  <c:v>50.6</c:v>
                </c:pt>
                <c:pt idx="3">
                  <c:v>34.9</c:v>
                </c:pt>
              </c:numCache>
            </c:numRef>
          </c:val>
          <c:extLst>
            <c:ext xmlns:c16="http://schemas.microsoft.com/office/drawing/2014/chart" uri="{C3380CC4-5D6E-409C-BE32-E72D297353CC}">
              <c16:uniqueId val="{00000008-7BE1-4783-9025-F6B1D3EBC73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E3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11111"/>
                </a:solidFill>
                <a:latin typeface="Calibri"/>
              </a:defRPr>
            </a:pPr>
            <a:r>
              <a:rPr lang="en-US" sz="1300" b="0" i="0" u="none" strike="noStrike">
                <a:solidFill>
                  <a:srgbClr val="111111"/>
                </a:solidFill>
                <a:latin typeface="Calibri"/>
              </a:rPr>
              <a:t>Top coefficients (+ = towards decline)</a:t>
            </a:r>
          </a:p>
        </c:rich>
      </c:tx>
      <c:overlay val="0"/>
    </c:title>
    <c:autoTitleDeleted val="0"/>
    <c:plotArea>
      <c:layout/>
      <c:barChart>
        <c:barDir val="bar"/>
        <c:grouping val="clustered"/>
        <c:varyColors val="0"/>
        <c:ser>
          <c:idx val="0"/>
          <c:order val="0"/>
          <c:tx>
            <c:strRef>
              <c:f>Sheet1!$B$1</c:f>
              <c:strCache>
                <c:ptCount val="1"/>
                <c:pt idx="0">
                  <c:v>Coefficient</c:v>
                </c:pt>
              </c:strCache>
            </c:strRef>
          </c:tx>
          <c:spPr>
            <a:solidFill>
              <a:srgbClr val="1565C0"/>
            </a:solidFill>
            <a:effectLst/>
          </c:spPr>
          <c:invertIfNegative val="0"/>
          <c:dPt>
            <c:idx val="0"/>
            <c:invertIfNegative val="0"/>
            <c:bubble3D val="0"/>
            <c:extLst>
              <c:ext xmlns:c16="http://schemas.microsoft.com/office/drawing/2014/chart" uri="{C3380CC4-5D6E-409C-BE32-E72D297353CC}">
                <c16:uniqueId val="{00000001-AE76-4997-889B-5BA6A1F24484}"/>
              </c:ext>
            </c:extLst>
          </c:dPt>
          <c:dPt>
            <c:idx val="1"/>
            <c:invertIfNegative val="0"/>
            <c:bubble3D val="0"/>
            <c:extLst>
              <c:ext xmlns:c16="http://schemas.microsoft.com/office/drawing/2014/chart" uri="{C3380CC4-5D6E-409C-BE32-E72D297353CC}">
                <c16:uniqueId val="{00000003-AE76-4997-889B-5BA6A1F24484}"/>
              </c:ext>
            </c:extLst>
          </c:dPt>
          <c:dPt>
            <c:idx val="2"/>
            <c:invertIfNegative val="0"/>
            <c:bubble3D val="0"/>
            <c:extLst>
              <c:ext xmlns:c16="http://schemas.microsoft.com/office/drawing/2014/chart" uri="{C3380CC4-5D6E-409C-BE32-E72D297353CC}">
                <c16:uniqueId val="{00000005-AE76-4997-889B-5BA6A1F24484}"/>
              </c:ext>
            </c:extLst>
          </c:dPt>
          <c:dPt>
            <c:idx val="3"/>
            <c:invertIfNegative val="0"/>
            <c:bubble3D val="0"/>
            <c:extLst>
              <c:ext xmlns:c16="http://schemas.microsoft.com/office/drawing/2014/chart" uri="{C3380CC4-5D6E-409C-BE32-E72D297353CC}">
                <c16:uniqueId val="{00000007-AE76-4997-889B-5BA6A1F24484}"/>
              </c:ext>
            </c:extLst>
          </c:dPt>
          <c:dPt>
            <c:idx val="4"/>
            <c:invertIfNegative val="0"/>
            <c:bubble3D val="0"/>
            <c:spPr>
              <a:solidFill>
                <a:srgbClr val="F57C00"/>
              </a:solidFill>
              <a:effectLst/>
            </c:spPr>
            <c:extLst>
              <c:ext xmlns:c16="http://schemas.microsoft.com/office/drawing/2014/chart" uri="{C3380CC4-5D6E-409C-BE32-E72D297353CC}">
                <c16:uniqueId val="{00000009-AE76-4997-889B-5BA6A1F24484}"/>
              </c:ext>
            </c:extLst>
          </c:dPt>
          <c:dPt>
            <c:idx val="5"/>
            <c:invertIfNegative val="0"/>
            <c:bubble3D val="0"/>
            <c:spPr>
              <a:solidFill>
                <a:srgbClr val="F57C00"/>
              </a:solidFill>
              <a:effectLst/>
            </c:spPr>
            <c:extLst>
              <c:ext xmlns:c16="http://schemas.microsoft.com/office/drawing/2014/chart" uri="{C3380CC4-5D6E-409C-BE32-E72D297353CC}">
                <c16:uniqueId val="{0000000B-AE76-4997-889B-5BA6A1F24484}"/>
              </c:ext>
            </c:extLst>
          </c:dPt>
          <c:dLbls>
            <c:numFmt formatCode="0.00" sourceLinked="0"/>
            <c:spPr>
              <a:noFill/>
              <a:ln>
                <a:noFill/>
              </a:ln>
              <a:effectLst/>
            </c:spPr>
            <c:txPr>
              <a:bodyPr/>
              <a:lstStyle/>
              <a:p>
                <a:pPr>
                  <a:defRPr sz="11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FOIR</c:v>
                </c:pt>
                <c:pt idx="1">
                  <c:v>Delinquencies</c:v>
                </c:pt>
                <c:pt idx="2">
                  <c:v>Gig / Contract</c:v>
                </c:pt>
                <c:pt idx="3">
                  <c:v>New to credit</c:v>
                </c:pt>
                <c:pt idx="4">
                  <c:v>Credit score</c:v>
                </c:pt>
                <c:pt idx="5">
                  <c:v>Salaried</c:v>
                </c:pt>
              </c:strCache>
            </c:strRef>
          </c:cat>
          <c:val>
            <c:numRef>
              <c:f>Sheet1!$B$2:$B$7</c:f>
              <c:numCache>
                <c:formatCode>General</c:formatCode>
                <c:ptCount val="6"/>
                <c:pt idx="0">
                  <c:v>1.22</c:v>
                </c:pt>
                <c:pt idx="1">
                  <c:v>0.98</c:v>
                </c:pt>
                <c:pt idx="2">
                  <c:v>0.62</c:v>
                </c:pt>
                <c:pt idx="3">
                  <c:v>0.38</c:v>
                </c:pt>
                <c:pt idx="4">
                  <c:v>-1.01</c:v>
                </c:pt>
                <c:pt idx="5">
                  <c:v>-0.45</c:v>
                </c:pt>
              </c:numCache>
            </c:numRef>
          </c:val>
          <c:extLst>
            <c:ext xmlns:c16="http://schemas.microsoft.com/office/drawing/2014/chart" uri="{C3380CC4-5D6E-409C-BE32-E72D297353CC}">
              <c16:uniqueId val="{0000000C-AE76-4997-889B-5BA6A1F2448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3E6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2030449318835146"/>
          <c:y val="2.3316108923884516E-2"/>
          <c:w val="0.84993360204974377"/>
          <c:h val="0.77804133858267721"/>
        </c:manualLayout>
      </c:layout>
      <c:lineChart>
        <c:grouping val="standard"/>
        <c:varyColors val="0"/>
        <c:ser>
          <c:idx val="0"/>
          <c:order val="0"/>
          <c:tx>
            <c:strRef>
              <c:f>Sheet1!$B$1</c:f>
              <c:strCache>
                <c:ptCount val="1"/>
                <c:pt idx="0">
                  <c:v>% auto-declined</c:v>
                </c:pt>
              </c:strCache>
            </c:strRef>
          </c:tx>
          <c:spPr>
            <a:ln w="38100" cap="flat">
              <a:solidFill>
                <a:srgbClr val="1565C0"/>
              </a:solidFill>
              <a:prstDash val="solid"/>
              <a:round/>
            </a:ln>
            <a:effectLst/>
          </c:spPr>
          <c:marker>
            <c:symbol val="circle"/>
            <c:size val="7"/>
            <c:spPr>
              <a:solidFill>
                <a:srgbClr val="1565C0"/>
              </a:solidFill>
              <a:ln w="9525" cap="flat">
                <a:solidFill>
                  <a:srgbClr val="1565C0"/>
                </a:solidFill>
                <a:prstDash val="solid"/>
                <a:round/>
              </a:ln>
              <a:effectLst/>
            </c:spPr>
          </c:marker>
          <c:cat>
            <c:strRef>
              <c:f>Sheet1!$A$2:$A$8</c:f>
              <c:strCache>
                <c:ptCount val="7"/>
                <c:pt idx="0">
                  <c:v>0.5</c:v>
                </c:pt>
                <c:pt idx="1">
                  <c:v>0.6</c:v>
                </c:pt>
                <c:pt idx="2">
                  <c:v>0.7</c:v>
                </c:pt>
                <c:pt idx="3">
                  <c:v>0.8</c:v>
                </c:pt>
                <c:pt idx="4">
                  <c:v>0.85</c:v>
                </c:pt>
                <c:pt idx="5">
                  <c:v>0.9</c:v>
                </c:pt>
                <c:pt idx="6">
                  <c:v>0.95</c:v>
                </c:pt>
              </c:strCache>
            </c:strRef>
          </c:cat>
          <c:val>
            <c:numRef>
              <c:f>Sheet1!$B$2:$B$8</c:f>
              <c:numCache>
                <c:formatCode>General</c:formatCode>
                <c:ptCount val="7"/>
                <c:pt idx="0">
                  <c:v>44.9</c:v>
                </c:pt>
                <c:pt idx="1">
                  <c:v>37.6</c:v>
                </c:pt>
                <c:pt idx="2">
                  <c:v>30.8</c:v>
                </c:pt>
                <c:pt idx="3">
                  <c:v>23.5</c:v>
                </c:pt>
                <c:pt idx="4">
                  <c:v>19.7</c:v>
                </c:pt>
                <c:pt idx="5">
                  <c:v>15.2</c:v>
                </c:pt>
                <c:pt idx="6">
                  <c:v>10</c:v>
                </c:pt>
              </c:numCache>
            </c:numRef>
          </c:val>
          <c:smooth val="0"/>
          <c:extLst>
            <c:ext xmlns:c16="http://schemas.microsoft.com/office/drawing/2014/chart" uri="{C3380CC4-5D6E-409C-BE32-E72D297353CC}">
              <c16:uniqueId val="{00000000-5EDB-446B-BF70-97C3C018A33B}"/>
            </c:ext>
          </c:extLst>
        </c:ser>
        <c:ser>
          <c:idx val="1"/>
          <c:order val="1"/>
          <c:tx>
            <c:strRef>
              <c:f>Sheet1!$C$1</c:f>
              <c:strCache>
                <c:ptCount val="1"/>
                <c:pt idx="0">
                  <c:v>% of those the team approved</c:v>
                </c:pt>
              </c:strCache>
            </c:strRef>
          </c:tx>
          <c:spPr>
            <a:ln w="38100" cap="flat">
              <a:solidFill>
                <a:srgbClr val="F57C00"/>
              </a:solidFill>
              <a:prstDash val="solid"/>
              <a:round/>
            </a:ln>
            <a:effectLst/>
          </c:spPr>
          <c:marker>
            <c:symbol val="circle"/>
            <c:size val="7"/>
            <c:spPr>
              <a:solidFill>
                <a:srgbClr val="F57C00"/>
              </a:solidFill>
              <a:ln w="9525" cap="flat">
                <a:solidFill>
                  <a:srgbClr val="F57C00"/>
                </a:solidFill>
                <a:prstDash val="solid"/>
                <a:round/>
              </a:ln>
              <a:effectLst/>
            </c:spPr>
          </c:marker>
          <c:cat>
            <c:strRef>
              <c:f>Sheet1!$A$2:$A$8</c:f>
              <c:strCache>
                <c:ptCount val="7"/>
                <c:pt idx="0">
                  <c:v>0.5</c:v>
                </c:pt>
                <c:pt idx="1">
                  <c:v>0.6</c:v>
                </c:pt>
                <c:pt idx="2">
                  <c:v>0.7</c:v>
                </c:pt>
                <c:pt idx="3">
                  <c:v>0.8</c:v>
                </c:pt>
                <c:pt idx="4">
                  <c:v>0.85</c:v>
                </c:pt>
                <c:pt idx="5">
                  <c:v>0.9</c:v>
                </c:pt>
                <c:pt idx="6">
                  <c:v>0.95</c:v>
                </c:pt>
              </c:strCache>
            </c:strRef>
          </c:cat>
          <c:val>
            <c:numRef>
              <c:f>Sheet1!$C$2:$C$8</c:f>
              <c:numCache>
                <c:formatCode>General</c:formatCode>
                <c:ptCount val="7"/>
                <c:pt idx="0">
                  <c:v>20.9</c:v>
                </c:pt>
                <c:pt idx="1">
                  <c:v>16.899999999999999</c:v>
                </c:pt>
                <c:pt idx="2">
                  <c:v>12.1</c:v>
                </c:pt>
                <c:pt idx="3">
                  <c:v>7.1</c:v>
                </c:pt>
                <c:pt idx="4">
                  <c:v>5.9</c:v>
                </c:pt>
                <c:pt idx="5">
                  <c:v>4.7</c:v>
                </c:pt>
                <c:pt idx="6">
                  <c:v>2.1</c:v>
                </c:pt>
              </c:numCache>
            </c:numRef>
          </c:val>
          <c:smooth val="0"/>
          <c:extLst>
            <c:ext xmlns:c16="http://schemas.microsoft.com/office/drawing/2014/chart" uri="{C3380CC4-5D6E-409C-BE32-E72D297353CC}">
              <c16:uniqueId val="{00000001-5EDB-446B-BF70-97C3C018A33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6EA"/>
              </a:solidFill>
              <a:prstDash val="solid"/>
              <a:round/>
            </a:ln>
          </c:spPr>
        </c:majorGridlines>
        <c:title>
          <c:tx>
            <c:rich>
              <a:bodyPr/>
              <a:lstStyle/>
              <a:p>
                <a:pPr>
                  <a:defRPr sz="1100" b="0" i="0" u="none" strike="noStrike">
                    <a:solidFill>
                      <a:srgbClr val="000000"/>
                    </a:solidFill>
                    <a:latin typeface="Arial"/>
                  </a:defRPr>
                </a:pPr>
                <a:r>
                  <a:rPr lang="en-US" sz="1100" b="0" i="0" u="none" strike="noStrike">
                    <a:solidFill>
                      <a:srgbClr val="000000"/>
                    </a:solidFill>
                    <a:latin typeface="Arial"/>
                  </a:rPr>
                  <a:t>Percent</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11111"/>
                </a:solidFill>
                <a:latin typeface="Calibri"/>
              </a:defRPr>
            </a:pPr>
            <a:r>
              <a:rPr lang="en-US" sz="1300" b="0" i="0" u="none" strike="noStrike">
                <a:solidFill>
                  <a:srgbClr val="111111"/>
                </a:solidFill>
                <a:latin typeface="Calibri"/>
              </a:rPr>
              <a:t>5-fold CV ROC-AUC (training set only)</a:t>
            </a:r>
          </a:p>
        </c:rich>
      </c:tx>
      <c:overlay val="0"/>
    </c:title>
    <c:autoTitleDeleted val="0"/>
    <c:plotArea>
      <c:layout/>
      <c:barChart>
        <c:barDir val="col"/>
        <c:grouping val="clustered"/>
        <c:varyColors val="0"/>
        <c:ser>
          <c:idx val="0"/>
          <c:order val="0"/>
          <c:tx>
            <c:strRef>
              <c:f>Sheet1!$B$1</c:f>
              <c:strCache>
                <c:ptCount val="1"/>
                <c:pt idx="0">
                  <c:v>ROC-AUC</c:v>
                </c:pt>
              </c:strCache>
            </c:strRef>
          </c:tx>
          <c:spPr>
            <a:solidFill>
              <a:srgbClr val="5F6B7A"/>
            </a:solidFill>
            <a:effectLst/>
          </c:spPr>
          <c:invertIfNegative val="0"/>
          <c:dPt>
            <c:idx val="0"/>
            <c:invertIfNegative val="0"/>
            <c:bubble3D val="0"/>
            <c:extLst>
              <c:ext xmlns:c16="http://schemas.microsoft.com/office/drawing/2014/chart" uri="{C3380CC4-5D6E-409C-BE32-E72D297353CC}">
                <c16:uniqueId val="{00000001-EED4-4B1C-AC8A-80FE15765B63}"/>
              </c:ext>
            </c:extLst>
          </c:dPt>
          <c:dPt>
            <c:idx val="1"/>
            <c:invertIfNegative val="0"/>
            <c:bubble3D val="0"/>
            <c:extLst>
              <c:ext xmlns:c16="http://schemas.microsoft.com/office/drawing/2014/chart" uri="{C3380CC4-5D6E-409C-BE32-E72D297353CC}">
                <c16:uniqueId val="{00000003-EED4-4B1C-AC8A-80FE15765B63}"/>
              </c:ext>
            </c:extLst>
          </c:dPt>
          <c:dPt>
            <c:idx val="2"/>
            <c:invertIfNegative val="0"/>
            <c:bubble3D val="0"/>
            <c:extLst>
              <c:ext xmlns:c16="http://schemas.microsoft.com/office/drawing/2014/chart" uri="{C3380CC4-5D6E-409C-BE32-E72D297353CC}">
                <c16:uniqueId val="{00000005-EED4-4B1C-AC8A-80FE15765B63}"/>
              </c:ext>
            </c:extLst>
          </c:dPt>
          <c:dPt>
            <c:idx val="3"/>
            <c:invertIfNegative val="0"/>
            <c:bubble3D val="0"/>
            <c:spPr>
              <a:solidFill>
                <a:srgbClr val="F57C00"/>
              </a:solidFill>
              <a:effectLst/>
            </c:spPr>
            <c:extLst>
              <c:ext xmlns:c16="http://schemas.microsoft.com/office/drawing/2014/chart" uri="{C3380CC4-5D6E-409C-BE32-E72D297353CC}">
                <c16:uniqueId val="{00000007-EED4-4B1C-AC8A-80FE15765B63}"/>
              </c:ext>
            </c:extLst>
          </c:dPt>
          <c:dLbls>
            <c:numFmt formatCode="0.000" sourceLinked="0"/>
            <c:spPr>
              <a:noFill/>
              <a:ln>
                <a:noFill/>
              </a:ln>
              <a:effectLst/>
            </c:spPr>
            <c:txPr>
              <a:bodyPr/>
              <a:lstStyle/>
              <a:p>
                <a:pPr>
                  <a:defRPr sz="11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c:v>
                </c:pt>
                <c:pt idx="1">
                  <c:v>Decision Tree</c:v>
                </c:pt>
                <c:pt idx="2">
                  <c:v>Random Forest</c:v>
                </c:pt>
                <c:pt idx="3">
                  <c:v>Gradient Boosting</c:v>
                </c:pt>
              </c:strCache>
            </c:strRef>
          </c:cat>
          <c:val>
            <c:numRef>
              <c:f>Sheet1!$B$2:$B$5</c:f>
              <c:numCache>
                <c:formatCode>General</c:formatCode>
                <c:ptCount val="4"/>
                <c:pt idx="0">
                  <c:v>0.86799999999999999</c:v>
                </c:pt>
                <c:pt idx="1">
                  <c:v>0.86299999999999999</c:v>
                </c:pt>
                <c:pt idx="2">
                  <c:v>0.88400000000000001</c:v>
                </c:pt>
                <c:pt idx="3">
                  <c:v>0.88900000000000001</c:v>
                </c:pt>
              </c:numCache>
            </c:numRef>
          </c:val>
          <c:extLst>
            <c:ext xmlns:c16="http://schemas.microsoft.com/office/drawing/2014/chart" uri="{C3380CC4-5D6E-409C-BE32-E72D297353CC}">
              <c16:uniqueId val="{00000008-EED4-4B1C-AC8A-80FE15765B6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max val="0.92"/>
          <c:min val="0.8"/>
        </c:scaling>
        <c:delete val="0"/>
        <c:axPos val="l"/>
        <c:majorGridlines>
          <c:spPr>
            <a:ln w="6350" cap="flat">
              <a:solidFill>
                <a:srgbClr val="E3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Gradient Boosting importance (share of total)</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Importance</c:v>
                </c:pt>
              </c:strCache>
            </c:strRef>
          </c:tx>
          <c:spPr>
            <a:solidFill>
              <a:schemeClr val="accent1"/>
            </a:solidFill>
            <a:ln>
              <a:noFill/>
            </a:ln>
            <a:effectLst/>
          </c:spPr>
          <c:invertIfNegative val="0"/>
          <c:dLbls>
            <c:numFmt formatCode="0.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Salaried</c:v>
                </c:pt>
                <c:pt idx="1">
                  <c:v>Loan-to-income</c:v>
                </c:pt>
                <c:pt idx="2">
                  <c:v>Gig / Contract</c:v>
                </c:pt>
                <c:pt idx="3">
                  <c:v>New to credit</c:v>
                </c:pt>
                <c:pt idx="4">
                  <c:v>Years in job</c:v>
                </c:pt>
                <c:pt idx="5">
                  <c:v>FOIR</c:v>
                </c:pt>
                <c:pt idx="6">
                  <c:v>Credit score</c:v>
                </c:pt>
                <c:pt idx="7">
                  <c:v>Delinquencies</c:v>
                </c:pt>
              </c:strCache>
            </c:strRef>
          </c:cat>
          <c:val>
            <c:numRef>
              <c:f>Sheet1!$B$2:$B$9</c:f>
              <c:numCache>
                <c:formatCode>General</c:formatCode>
                <c:ptCount val="8"/>
                <c:pt idx="0">
                  <c:v>1.4999999999999999E-2</c:v>
                </c:pt>
                <c:pt idx="1">
                  <c:v>1.6E-2</c:v>
                </c:pt>
                <c:pt idx="2">
                  <c:v>1.9E-2</c:v>
                </c:pt>
                <c:pt idx="3">
                  <c:v>0.02</c:v>
                </c:pt>
                <c:pt idx="4">
                  <c:v>2.9000000000000001E-2</c:v>
                </c:pt>
                <c:pt idx="5">
                  <c:v>0.28699999999999998</c:v>
                </c:pt>
                <c:pt idx="6">
                  <c:v>0.28999999999999998</c:v>
                </c:pt>
                <c:pt idx="7">
                  <c:v>0.30399999999999999</c:v>
                </c:pt>
              </c:numCache>
            </c:numRef>
          </c:val>
          <c:extLst>
            <c:ext xmlns:c16="http://schemas.microsoft.com/office/drawing/2014/chart" uri="{C3380CC4-5D6E-409C-BE32-E72D297353CC}">
              <c16:uniqueId val="{00000000-8075-4DE9-B863-DD851730A310}"/>
            </c:ext>
          </c:extLst>
        </c:ser>
        <c:dLbls>
          <c:showLegendKey val="0"/>
          <c:showVal val="1"/>
          <c:showCatName val="0"/>
          <c:showSerName val="0"/>
          <c:showPercent val="0"/>
          <c:showBubbleSize val="0"/>
        </c:dLbls>
        <c:gapWidth val="182"/>
        <c:axId val="2094734554"/>
        <c:axId val="2094734552"/>
      </c:barChart>
      <c:catAx>
        <c:axId val="209473455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0"/>
        <c:majorTickMark val="none"/>
        <c:minorTickMark val="none"/>
        <c:tickLblPos val="low"/>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Auto-decline</c:v>
                </c:pt>
              </c:strCache>
            </c:strRef>
          </c:tx>
          <c:spPr>
            <a:solidFill>
              <a:srgbClr val="111111"/>
            </a:solidFill>
            <a:effectLst/>
          </c:spPr>
          <c:invertIfNegative val="0"/>
          <c:dLbls>
            <c:numFmt formatCode="0.0" sourceLinked="0"/>
            <c:spPr>
              <a:noFill/>
              <a:ln>
                <a:noFill/>
              </a:ln>
              <a:effectLst/>
            </c:spPr>
            <c:txPr>
              <a:bodyPr/>
              <a:lstStyle/>
              <a:p>
                <a:pPr>
                  <a:defRPr sz="1100" b="0"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Logistic Reg.</c:v>
                </c:pt>
                <c:pt idx="1">
                  <c:v>Gradient Boosting</c:v>
                </c:pt>
              </c:strCache>
            </c:strRef>
          </c:cat>
          <c:val>
            <c:numRef>
              <c:f>Sheet1!$B$2:$B$3</c:f>
              <c:numCache>
                <c:formatCode>General</c:formatCode>
                <c:ptCount val="2"/>
                <c:pt idx="0">
                  <c:v>16.2</c:v>
                </c:pt>
                <c:pt idx="1">
                  <c:v>22.7</c:v>
                </c:pt>
              </c:numCache>
            </c:numRef>
          </c:val>
          <c:extLst>
            <c:ext xmlns:c16="http://schemas.microsoft.com/office/drawing/2014/chart" uri="{C3380CC4-5D6E-409C-BE32-E72D297353CC}">
              <c16:uniqueId val="{00000000-47C7-4F7E-9023-1C9E41681024}"/>
            </c:ext>
          </c:extLst>
        </c:ser>
        <c:ser>
          <c:idx val="1"/>
          <c:order val="1"/>
          <c:tx>
            <c:strRef>
              <c:f>Sheet1!$C$1</c:f>
              <c:strCache>
                <c:ptCount val="1"/>
                <c:pt idx="0">
                  <c:v>Analyst review</c:v>
                </c:pt>
              </c:strCache>
            </c:strRef>
          </c:tx>
          <c:spPr>
            <a:solidFill>
              <a:srgbClr val="B8C0CC"/>
            </a:solidFill>
            <a:effectLst/>
          </c:spPr>
          <c:invertIfNegative val="0"/>
          <c:dLbls>
            <c:dLbl>
              <c:idx val="0"/>
              <c:tx>
                <c:rich>
                  <a:bodyPr/>
                  <a:lstStyle/>
                  <a:p>
                    <a:fld id="{7E137064-9A6A-409E-85F0-AEB9907663D5}" type="VALUE">
                      <a:rPr lang="en-US">
                        <a:solidFill>
                          <a:schemeClr val="tx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257E-4643-8F4D-B6B6424756D8}"/>
                </c:ext>
              </c:extLst>
            </c:dLbl>
            <c:dLbl>
              <c:idx val="1"/>
              <c:tx>
                <c:rich>
                  <a:bodyPr/>
                  <a:lstStyle/>
                  <a:p>
                    <a:fld id="{DD8CB726-52F9-4E71-9BF0-1A187B815112}" type="VALUE">
                      <a:rPr lang="en-US">
                        <a:solidFill>
                          <a:schemeClr val="tx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257E-4643-8F4D-B6B6424756D8}"/>
                </c:ext>
              </c:extLst>
            </c:dLbl>
            <c:numFmt formatCode="0.0" sourceLinked="0"/>
            <c:spPr>
              <a:noFill/>
              <a:ln>
                <a:noFill/>
              </a:ln>
              <a:effectLst/>
            </c:spPr>
            <c:txPr>
              <a:bodyPr/>
              <a:lstStyle/>
              <a:p>
                <a:pPr>
                  <a:defRPr sz="1100" b="0"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Logistic Reg.</c:v>
                </c:pt>
                <c:pt idx="1">
                  <c:v>Gradient Boosting</c:v>
                </c:pt>
              </c:strCache>
            </c:strRef>
          </c:cat>
          <c:val>
            <c:numRef>
              <c:f>Sheet1!$C$2:$C$3</c:f>
              <c:numCache>
                <c:formatCode>General</c:formatCode>
                <c:ptCount val="2"/>
                <c:pt idx="0">
                  <c:v>68.099999999999994</c:v>
                </c:pt>
                <c:pt idx="1">
                  <c:v>57</c:v>
                </c:pt>
              </c:numCache>
            </c:numRef>
          </c:val>
          <c:extLst>
            <c:ext xmlns:c16="http://schemas.microsoft.com/office/drawing/2014/chart" uri="{C3380CC4-5D6E-409C-BE32-E72D297353CC}">
              <c16:uniqueId val="{00000001-47C7-4F7E-9023-1C9E41681024}"/>
            </c:ext>
          </c:extLst>
        </c:ser>
        <c:ser>
          <c:idx val="2"/>
          <c:order val="2"/>
          <c:tx>
            <c:strRef>
              <c:f>Sheet1!$D$1</c:f>
              <c:strCache>
                <c:ptCount val="1"/>
                <c:pt idx="0">
                  <c:v>Fast-track</c:v>
                </c:pt>
              </c:strCache>
            </c:strRef>
          </c:tx>
          <c:spPr>
            <a:solidFill>
              <a:srgbClr val="F57C00"/>
            </a:solidFill>
            <a:effectLst/>
          </c:spPr>
          <c:invertIfNegative val="0"/>
          <c:dLbls>
            <c:numFmt formatCode="0.0" sourceLinked="0"/>
            <c:spPr>
              <a:noFill/>
              <a:ln>
                <a:noFill/>
              </a:ln>
              <a:effectLst/>
            </c:spPr>
            <c:txPr>
              <a:bodyPr/>
              <a:lstStyle/>
              <a:p>
                <a:pPr>
                  <a:defRPr sz="1100" b="0"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Logistic Reg.</c:v>
                </c:pt>
                <c:pt idx="1">
                  <c:v>Gradient Boosting</c:v>
                </c:pt>
              </c:strCache>
            </c:strRef>
          </c:cat>
          <c:val>
            <c:numRef>
              <c:f>Sheet1!$D$2:$D$3</c:f>
              <c:numCache>
                <c:formatCode>General</c:formatCode>
                <c:ptCount val="2"/>
                <c:pt idx="0">
                  <c:v>15.7</c:v>
                </c:pt>
                <c:pt idx="1">
                  <c:v>20.3</c:v>
                </c:pt>
              </c:numCache>
            </c:numRef>
          </c:val>
          <c:extLst>
            <c:ext xmlns:c16="http://schemas.microsoft.com/office/drawing/2014/chart" uri="{C3380CC4-5D6E-409C-BE32-E72D297353CC}">
              <c16:uniqueId val="{00000002-47C7-4F7E-9023-1C9E41681024}"/>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E3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Auto-decline</c:v>
                </c:pt>
              </c:strCache>
            </c:strRef>
          </c:tx>
          <c:spPr>
            <a:solidFill>
              <a:srgbClr val="111111"/>
            </a:solidFill>
            <a:effectLst/>
          </c:spPr>
          <c:invertIfNegative val="0"/>
          <c:cat>
            <c:strRef>
              <c:f>Sheet1!$A$2:$A$6</c:f>
              <c:strCache>
                <c:ptCount val="5"/>
                <c:pt idx="0">
                  <c:v>Gig / Contract</c:v>
                </c:pt>
                <c:pt idx="1">
                  <c:v>Business Owner</c:v>
                </c:pt>
                <c:pt idx="2">
                  <c:v>Self-Employed</c:v>
                </c:pt>
                <c:pt idx="3">
                  <c:v>Salaried</c:v>
                </c:pt>
                <c:pt idx="4">
                  <c:v>New to credit</c:v>
                </c:pt>
              </c:strCache>
            </c:strRef>
          </c:cat>
          <c:val>
            <c:numRef>
              <c:f>Sheet1!$B$2:$B$6</c:f>
              <c:numCache>
                <c:formatCode>General</c:formatCode>
                <c:ptCount val="5"/>
                <c:pt idx="0">
                  <c:v>40.1</c:v>
                </c:pt>
                <c:pt idx="1">
                  <c:v>20.8</c:v>
                </c:pt>
                <c:pt idx="2">
                  <c:v>17.7</c:v>
                </c:pt>
                <c:pt idx="3">
                  <c:v>19.8</c:v>
                </c:pt>
                <c:pt idx="4">
                  <c:v>1</c:v>
                </c:pt>
              </c:numCache>
            </c:numRef>
          </c:val>
          <c:extLst>
            <c:ext xmlns:c16="http://schemas.microsoft.com/office/drawing/2014/chart" uri="{C3380CC4-5D6E-409C-BE32-E72D297353CC}">
              <c16:uniqueId val="{00000000-ABEB-45D5-8EEF-11FE9CEDCD5B}"/>
            </c:ext>
          </c:extLst>
        </c:ser>
        <c:ser>
          <c:idx val="1"/>
          <c:order val="1"/>
          <c:tx>
            <c:strRef>
              <c:f>Sheet1!$C$1</c:f>
              <c:strCache>
                <c:ptCount val="1"/>
                <c:pt idx="0">
                  <c:v>Analyst review</c:v>
                </c:pt>
              </c:strCache>
            </c:strRef>
          </c:tx>
          <c:spPr>
            <a:solidFill>
              <a:srgbClr val="B8C0CC"/>
            </a:solidFill>
            <a:effectLst/>
          </c:spPr>
          <c:invertIfNegative val="0"/>
          <c:cat>
            <c:strRef>
              <c:f>Sheet1!$A$2:$A$6</c:f>
              <c:strCache>
                <c:ptCount val="5"/>
                <c:pt idx="0">
                  <c:v>Gig / Contract</c:v>
                </c:pt>
                <c:pt idx="1">
                  <c:v>Business Owner</c:v>
                </c:pt>
                <c:pt idx="2">
                  <c:v>Self-Employed</c:v>
                </c:pt>
                <c:pt idx="3">
                  <c:v>Salaried</c:v>
                </c:pt>
                <c:pt idx="4">
                  <c:v>New to credit</c:v>
                </c:pt>
              </c:strCache>
            </c:strRef>
          </c:cat>
          <c:val>
            <c:numRef>
              <c:f>Sheet1!$C$2:$C$6</c:f>
              <c:numCache>
                <c:formatCode>General</c:formatCode>
                <c:ptCount val="5"/>
                <c:pt idx="0">
                  <c:v>51.1</c:v>
                </c:pt>
                <c:pt idx="1">
                  <c:v>59.3</c:v>
                </c:pt>
                <c:pt idx="2">
                  <c:v>63.3</c:v>
                </c:pt>
                <c:pt idx="3">
                  <c:v>56.6</c:v>
                </c:pt>
                <c:pt idx="4">
                  <c:v>99</c:v>
                </c:pt>
              </c:numCache>
            </c:numRef>
          </c:val>
          <c:extLst>
            <c:ext xmlns:c16="http://schemas.microsoft.com/office/drawing/2014/chart" uri="{C3380CC4-5D6E-409C-BE32-E72D297353CC}">
              <c16:uniqueId val="{00000001-ABEB-45D5-8EEF-11FE9CEDCD5B}"/>
            </c:ext>
          </c:extLst>
        </c:ser>
        <c:ser>
          <c:idx val="2"/>
          <c:order val="2"/>
          <c:tx>
            <c:strRef>
              <c:f>Sheet1!$D$1</c:f>
              <c:strCache>
                <c:ptCount val="1"/>
                <c:pt idx="0">
                  <c:v>Fast-track</c:v>
                </c:pt>
              </c:strCache>
            </c:strRef>
          </c:tx>
          <c:spPr>
            <a:solidFill>
              <a:srgbClr val="F57C00"/>
            </a:solidFill>
            <a:effectLst/>
          </c:spPr>
          <c:invertIfNegative val="0"/>
          <c:cat>
            <c:strRef>
              <c:f>Sheet1!$A$2:$A$6</c:f>
              <c:strCache>
                <c:ptCount val="5"/>
                <c:pt idx="0">
                  <c:v>Gig / Contract</c:v>
                </c:pt>
                <c:pt idx="1">
                  <c:v>Business Owner</c:v>
                </c:pt>
                <c:pt idx="2">
                  <c:v>Self-Employed</c:v>
                </c:pt>
                <c:pt idx="3">
                  <c:v>Salaried</c:v>
                </c:pt>
                <c:pt idx="4">
                  <c:v>New to credit</c:v>
                </c:pt>
              </c:strCache>
            </c:strRef>
          </c:cat>
          <c:val>
            <c:numRef>
              <c:f>Sheet1!$D$2:$D$6</c:f>
              <c:numCache>
                <c:formatCode>General</c:formatCode>
                <c:ptCount val="5"/>
                <c:pt idx="0">
                  <c:v>8.8000000000000007</c:v>
                </c:pt>
                <c:pt idx="1">
                  <c:v>19.899999999999999</c:v>
                </c:pt>
                <c:pt idx="2">
                  <c:v>19</c:v>
                </c:pt>
                <c:pt idx="3">
                  <c:v>23.6</c:v>
                </c:pt>
                <c:pt idx="4">
                  <c:v>0</c:v>
                </c:pt>
              </c:numCache>
            </c:numRef>
          </c:val>
          <c:extLst>
            <c:ext xmlns:c16="http://schemas.microsoft.com/office/drawing/2014/chart" uri="{C3380CC4-5D6E-409C-BE32-E72D297353CC}">
              <c16:uniqueId val="{00000002-ABEB-45D5-8EEF-11FE9CEDCD5B}"/>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max val="100"/>
        </c:scaling>
        <c:delete val="0"/>
        <c:axPos val="b"/>
        <c:majorGridlines>
          <c:spPr>
            <a:ln w="6350" cap="flat">
              <a:solidFill>
                <a:srgbClr val="E3E6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11111"/>
                </a:solidFill>
                <a:latin typeface="Calibri"/>
              </a:defRPr>
            </a:pPr>
            <a:r>
              <a:rPr lang="en-US" sz="1300" b="0" i="0" u="none" strike="noStrike">
                <a:solidFill>
                  <a:srgbClr val="111111"/>
                </a:solidFill>
                <a:latin typeface="Calibri"/>
              </a:rPr>
              <a:t>Elbow plot (inertia)</a:t>
            </a:r>
          </a:p>
        </c:rich>
      </c:tx>
      <c:overlay val="0"/>
    </c:title>
    <c:autoTitleDeleted val="0"/>
    <c:plotArea>
      <c:layout/>
      <c:lineChart>
        <c:grouping val="standard"/>
        <c:varyColors val="0"/>
        <c:ser>
          <c:idx val="0"/>
          <c:order val="0"/>
          <c:tx>
            <c:strRef>
              <c:f>Sheet1!$B$1</c:f>
              <c:strCache>
                <c:ptCount val="1"/>
                <c:pt idx="0">
                  <c:v>Inertia</c:v>
                </c:pt>
              </c:strCache>
            </c:strRef>
          </c:tx>
          <c:spPr>
            <a:ln w="38100" cap="flat">
              <a:solidFill>
                <a:srgbClr val="1565C0"/>
              </a:solidFill>
              <a:prstDash val="solid"/>
              <a:round/>
            </a:ln>
            <a:effectLst/>
          </c:spPr>
          <c:marker>
            <c:symbol val="circle"/>
            <c:size val="6"/>
            <c:spPr>
              <a:solidFill>
                <a:srgbClr val="1565C0"/>
              </a:solidFill>
              <a:ln w="9525" cap="flat">
                <a:solidFill>
                  <a:srgbClr val="1565C0"/>
                </a:solidFill>
                <a:prstDash val="solid"/>
                <a:round/>
              </a:ln>
              <a:effectLst/>
            </c:spPr>
          </c:marker>
          <c:cat>
            <c:strRef>
              <c:f>Sheet1!$A$2:$A$10</c:f>
              <c:strCache>
                <c:ptCount val="9"/>
                <c:pt idx="0">
                  <c:v>2</c:v>
                </c:pt>
                <c:pt idx="1">
                  <c:v>3</c:v>
                </c:pt>
                <c:pt idx="2">
                  <c:v>4</c:v>
                </c:pt>
                <c:pt idx="3">
                  <c:v>5</c:v>
                </c:pt>
                <c:pt idx="4">
                  <c:v>6</c:v>
                </c:pt>
                <c:pt idx="5">
                  <c:v>7</c:v>
                </c:pt>
                <c:pt idx="6">
                  <c:v>8</c:v>
                </c:pt>
                <c:pt idx="7">
                  <c:v>9</c:v>
                </c:pt>
                <c:pt idx="8">
                  <c:v>10</c:v>
                </c:pt>
              </c:strCache>
            </c:strRef>
          </c:cat>
          <c:val>
            <c:numRef>
              <c:f>Sheet1!$B$2:$B$10</c:f>
              <c:numCache>
                <c:formatCode>General</c:formatCode>
                <c:ptCount val="9"/>
                <c:pt idx="0">
                  <c:v>48692</c:v>
                </c:pt>
                <c:pt idx="1">
                  <c:v>42957</c:v>
                </c:pt>
                <c:pt idx="2">
                  <c:v>38154</c:v>
                </c:pt>
                <c:pt idx="3">
                  <c:v>33721</c:v>
                </c:pt>
                <c:pt idx="4">
                  <c:v>30526</c:v>
                </c:pt>
                <c:pt idx="5">
                  <c:v>28638</c:v>
                </c:pt>
                <c:pt idx="6">
                  <c:v>27440</c:v>
                </c:pt>
                <c:pt idx="7">
                  <c:v>26308</c:v>
                </c:pt>
                <c:pt idx="8">
                  <c:v>25286</c:v>
                </c:pt>
              </c:numCache>
            </c:numRef>
          </c:val>
          <c:smooth val="0"/>
          <c:extLst>
            <c:ext xmlns:c16="http://schemas.microsoft.com/office/drawing/2014/chart" uri="{C3380CC4-5D6E-409C-BE32-E72D297353CC}">
              <c16:uniqueId val="{00000000-902C-4DFC-AE3C-491EC7169F9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11111"/>
                </a:solidFill>
                <a:latin typeface="Calibri"/>
              </a:defRPr>
            </a:pPr>
            <a:r>
              <a:rPr lang="en-US" sz="1300" b="0" i="0" u="none" strike="noStrike">
                <a:solidFill>
                  <a:srgbClr val="111111"/>
                </a:solidFill>
                <a:latin typeface="Calibri"/>
              </a:rPr>
              <a:t>Silhouette score (check)</a:t>
            </a:r>
          </a:p>
        </c:rich>
      </c:tx>
      <c:overlay val="0"/>
    </c:title>
    <c:autoTitleDeleted val="0"/>
    <c:plotArea>
      <c:layout/>
      <c:lineChart>
        <c:grouping val="standard"/>
        <c:varyColors val="0"/>
        <c:ser>
          <c:idx val="0"/>
          <c:order val="0"/>
          <c:tx>
            <c:strRef>
              <c:f>Sheet1!$B$1</c:f>
              <c:strCache>
                <c:ptCount val="1"/>
                <c:pt idx="0">
                  <c:v>Silhouette</c:v>
                </c:pt>
              </c:strCache>
            </c:strRef>
          </c:tx>
          <c:spPr>
            <a:ln w="38100" cap="flat">
              <a:solidFill>
                <a:srgbClr val="F57C00"/>
              </a:solidFill>
              <a:prstDash val="solid"/>
              <a:round/>
            </a:ln>
            <a:effectLst/>
          </c:spPr>
          <c:marker>
            <c:symbol val="circle"/>
            <c:size val="6"/>
            <c:spPr>
              <a:solidFill>
                <a:srgbClr val="F57C00"/>
              </a:solidFill>
              <a:ln w="9525" cap="flat">
                <a:solidFill>
                  <a:srgbClr val="F57C00"/>
                </a:solidFill>
                <a:prstDash val="solid"/>
                <a:round/>
              </a:ln>
              <a:effectLst/>
            </c:spPr>
          </c:marker>
          <c:cat>
            <c:strRef>
              <c:f>Sheet1!$A$2:$A$10</c:f>
              <c:strCache>
                <c:ptCount val="9"/>
                <c:pt idx="0">
                  <c:v>2</c:v>
                </c:pt>
                <c:pt idx="1">
                  <c:v>3</c:v>
                </c:pt>
                <c:pt idx="2">
                  <c:v>4</c:v>
                </c:pt>
                <c:pt idx="3">
                  <c:v>5</c:v>
                </c:pt>
                <c:pt idx="4">
                  <c:v>6</c:v>
                </c:pt>
                <c:pt idx="5">
                  <c:v>7</c:v>
                </c:pt>
                <c:pt idx="6">
                  <c:v>8</c:v>
                </c:pt>
                <c:pt idx="7">
                  <c:v>9</c:v>
                </c:pt>
                <c:pt idx="8">
                  <c:v>10</c:v>
                </c:pt>
              </c:strCache>
            </c:strRef>
          </c:cat>
          <c:val>
            <c:numRef>
              <c:f>Sheet1!$B$2:$B$10</c:f>
              <c:numCache>
                <c:formatCode>General</c:formatCode>
                <c:ptCount val="9"/>
                <c:pt idx="0">
                  <c:v>0.21099999999999999</c:v>
                </c:pt>
                <c:pt idx="1">
                  <c:v>0.2</c:v>
                </c:pt>
                <c:pt idx="2">
                  <c:v>0.20899999999999999</c:v>
                </c:pt>
                <c:pt idx="3">
                  <c:v>0.17899999999999999</c:v>
                </c:pt>
                <c:pt idx="4">
                  <c:v>0.17899999999999999</c:v>
                </c:pt>
                <c:pt idx="5">
                  <c:v>0.17</c:v>
                </c:pt>
                <c:pt idx="6">
                  <c:v>0.16800000000000001</c:v>
                </c:pt>
                <c:pt idx="7">
                  <c:v>0.16400000000000001</c:v>
                </c:pt>
                <c:pt idx="8">
                  <c:v>0.159</c:v>
                </c:pt>
              </c:numCache>
            </c:numRef>
          </c:val>
          <c:smooth val="0"/>
          <c:extLst>
            <c:ext xmlns:c16="http://schemas.microsoft.com/office/drawing/2014/chart" uri="{C3380CC4-5D6E-409C-BE32-E72D297353CC}">
              <c16:uniqueId val="{00000000-1FE5-4C1D-8C43-2FD4183DABE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Approval rate %</c:v>
                </c:pt>
              </c:strCache>
            </c:strRef>
          </c:tx>
          <c:spPr>
            <a:solidFill>
              <a:srgbClr val="1565C0"/>
            </a:solidFill>
            <a:effectLst/>
          </c:spPr>
          <c:invertIfNegative val="0"/>
          <c:dLbls>
            <c:numFmt formatCode="0" sourceLinked="0"/>
            <c:spPr>
              <a:noFill/>
              <a:ln>
                <a:noFill/>
              </a:ln>
              <a:effectLst/>
            </c:spPr>
            <c:txPr>
              <a:bodyPr/>
              <a:lstStyle/>
              <a:p>
                <a:pPr>
                  <a:defRPr sz="11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Early-career</c:v>
                </c:pt>
                <c:pt idx="1">
                  <c:v>Over-stretched</c:v>
                </c:pt>
                <c:pt idx="2">
                  <c:v>Established</c:v>
                </c:pt>
                <c:pt idx="3">
                  <c:v>High-income</c:v>
                </c:pt>
              </c:strCache>
            </c:strRef>
          </c:cat>
          <c:val>
            <c:numRef>
              <c:f>Sheet1!$B$2:$B$5</c:f>
              <c:numCache>
                <c:formatCode>General</c:formatCode>
                <c:ptCount val="4"/>
                <c:pt idx="0">
                  <c:v>54</c:v>
                </c:pt>
                <c:pt idx="1">
                  <c:v>23</c:v>
                </c:pt>
                <c:pt idx="2">
                  <c:v>68</c:v>
                </c:pt>
                <c:pt idx="3">
                  <c:v>59</c:v>
                </c:pt>
              </c:numCache>
            </c:numRef>
          </c:val>
          <c:extLst>
            <c:ext xmlns:c16="http://schemas.microsoft.com/office/drawing/2014/chart" uri="{C3380CC4-5D6E-409C-BE32-E72D297353CC}">
              <c16:uniqueId val="{00000000-31C9-4E6B-BC1D-2E934AE8E2A1}"/>
            </c:ext>
          </c:extLst>
        </c:ser>
        <c:ser>
          <c:idx val="1"/>
          <c:order val="1"/>
          <c:tx>
            <c:strRef>
              <c:f>Sheet1!$C$1</c:f>
              <c:strCache>
                <c:ptCount val="1"/>
                <c:pt idx="0">
                  <c:v>Model error %</c:v>
                </c:pt>
              </c:strCache>
            </c:strRef>
          </c:tx>
          <c:spPr>
            <a:solidFill>
              <a:srgbClr val="F57C00"/>
            </a:solidFill>
            <a:effectLst/>
          </c:spPr>
          <c:invertIfNegative val="0"/>
          <c:dLbls>
            <c:dLbl>
              <c:idx val="3"/>
              <c:tx>
                <c:rich>
                  <a:bodyPr/>
                  <a:lstStyle/>
                  <a:p>
                    <a:r>
                      <a:rPr lang="en-US"/>
                      <a:t>26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55B9-43F2-B482-9569DAF09908}"/>
                </c:ext>
              </c:extLst>
            </c:dLbl>
            <c:numFmt formatCode="0" sourceLinked="0"/>
            <c:spPr>
              <a:noFill/>
              <a:ln>
                <a:noFill/>
              </a:ln>
              <a:effectLst/>
            </c:spPr>
            <c:txPr>
              <a:bodyPr/>
              <a:lstStyle/>
              <a:p>
                <a:pPr>
                  <a:defRPr sz="1100" b="0" i="0" u="none" strike="noStrike">
                    <a:solidFill>
                      <a:srgbClr val="00000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Early-career</c:v>
                </c:pt>
                <c:pt idx="1">
                  <c:v>Over-stretched</c:v>
                </c:pt>
                <c:pt idx="2">
                  <c:v>Established</c:v>
                </c:pt>
                <c:pt idx="3">
                  <c:v>High-income</c:v>
                </c:pt>
              </c:strCache>
            </c:strRef>
          </c:cat>
          <c:val>
            <c:numRef>
              <c:f>Sheet1!$C$2:$C$5</c:f>
              <c:numCache>
                <c:formatCode>General</c:formatCode>
                <c:ptCount val="4"/>
                <c:pt idx="0">
                  <c:v>20</c:v>
                </c:pt>
                <c:pt idx="1">
                  <c:v>14</c:v>
                </c:pt>
                <c:pt idx="2">
                  <c:v>19</c:v>
                </c:pt>
                <c:pt idx="3">
                  <c:v>27</c:v>
                </c:pt>
              </c:numCache>
            </c:numRef>
          </c:val>
          <c:extLst>
            <c:ext xmlns:c16="http://schemas.microsoft.com/office/drawing/2014/chart" uri="{C3380CC4-5D6E-409C-BE32-E72D297353CC}">
              <c16:uniqueId val="{00000001-31C9-4E6B-BC1D-2E934AE8E2A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2"/>
        <c:crosses val="autoZero"/>
        <c:auto val="1"/>
        <c:lblAlgn val="ctr"/>
        <c:lblOffset val="100"/>
        <c:noMultiLvlLbl val="1"/>
      </c:catAx>
      <c:valAx>
        <c:axId val="2094734552"/>
        <c:scaling>
          <c:orientation val="minMax"/>
          <c:max val="90"/>
        </c:scaling>
        <c:delete val="0"/>
        <c:axPos val="l"/>
        <c:majorGridlines>
          <c:spPr>
            <a:ln w="6350" cap="flat">
              <a:solidFill>
                <a:srgbClr val="E3E6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2319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EBEF4-237B-B3A5-5E3C-A6DCA50A42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9714E3-6013-FBBB-DBAA-FFE77DB126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917999-056E-32D9-7800-120776E5C8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A2DF59-BC11-F67F-D024-AD195D0BC7AB}"/>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9902410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61E3E-141B-1FE9-B250-FFC1B4C014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D10B9-34E5-EA3F-F784-01C6F37D08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4A793F-56F4-5FE0-AB8F-2515F28689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9F267C-BCCC-C339-5A08-85647E3563DD}"/>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747361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7E958-611A-8291-6653-2DFE48A192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956C00-ECE2-1F5F-3789-41FDD5CDAB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BE82B4-34C2-430B-4882-16C24A0A95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947199-26B6-8824-6469-3BDA612568C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50110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6EC0C-7B72-9BAF-A679-74D035410D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CBA1BE-D91A-2DA7-6E1C-A1CC938318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9FCC1-FEEB-6CC5-504E-6E9BA31206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7617B4-0DEB-0F3A-BEF4-947E47983758}"/>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113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chart" Target="../charts/char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6675120" y="-662940"/>
            <a:ext cx="3840480" cy="3840480"/>
          </a:xfrm>
          <a:prstGeom prst="ellipse">
            <a:avLst/>
          </a:prstGeom>
          <a:solidFill>
            <a:srgbClr val="FF6600"/>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3" name="Shape 1"/>
          <p:cNvSpPr/>
          <p:nvPr/>
        </p:nvSpPr>
        <p:spPr>
          <a:xfrm>
            <a:off x="6748549" y="2880360"/>
            <a:ext cx="3108960" cy="3108960"/>
          </a:xfrm>
          <a:prstGeom prst="ellipse">
            <a:avLst/>
          </a:prstGeom>
          <a:solidFill>
            <a:srgbClr val="1565C0"/>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4" name="Text 2"/>
          <p:cNvSpPr txBox="1"/>
          <p:nvPr/>
        </p:nvSpPr>
        <p:spPr>
          <a:xfrm>
            <a:off x="457200" y="960120"/>
            <a:ext cx="5943600" cy="365760"/>
          </a:xfrm>
          <a:prstGeom prst="rect">
            <a:avLst/>
          </a:prstGeom>
          <a:noFill/>
          <a:ln/>
        </p:spPr>
        <p:txBody>
          <a:bodyPr wrap="square" lIns="0" tIns="0" rIns="0" bIns="0" rtlCol="0" anchor="t"/>
          <a:lstStyle/>
          <a:p>
            <a:pPr marL="0" indent="0">
              <a:buNone/>
            </a:pPr>
            <a:r>
              <a:rPr lang="en-US" b="1" dirty="0">
                <a:solidFill>
                  <a:srgbClr val="F57C00"/>
                </a:solidFill>
                <a:latin typeface="Calibri" pitchFamily="34" charset="0"/>
                <a:ea typeface="Calibri" pitchFamily="34" charset="-122"/>
                <a:cs typeface="Calibri" pitchFamily="34" charset="-120"/>
              </a:rPr>
              <a:t>MUC02 · Phase 2 · BFSI Retail Lending</a:t>
            </a:r>
            <a:endParaRPr lang="en-US" dirty="0"/>
          </a:p>
        </p:txBody>
      </p:sp>
      <p:sp>
        <p:nvSpPr>
          <p:cNvPr id="5" name="Text 3"/>
          <p:cNvSpPr txBox="1"/>
          <p:nvPr/>
        </p:nvSpPr>
        <p:spPr>
          <a:xfrm>
            <a:off x="457200" y="1371600"/>
            <a:ext cx="6035040" cy="914400"/>
          </a:xfrm>
          <a:prstGeom prst="rect">
            <a:avLst/>
          </a:prstGeom>
          <a:noFill/>
          <a:ln/>
        </p:spPr>
        <p:txBody>
          <a:bodyPr wrap="square" lIns="0" tIns="0" rIns="0" bIns="0" rtlCol="0" anchor="t"/>
          <a:lstStyle/>
          <a:p>
            <a:pPr marL="0" indent="0">
              <a:buNone/>
            </a:pPr>
            <a:r>
              <a:rPr lang="en-US" sz="4800" b="1" dirty="0">
                <a:solidFill>
                  <a:srgbClr val="FFFFFF"/>
                </a:solidFill>
                <a:latin typeface="Bahnschrift Condensed" panose="020B0502040204020203" pitchFamily="34" charset="0"/>
                <a:ea typeface="Calibri" pitchFamily="34" charset="-122"/>
                <a:cs typeface="Calibri" pitchFamily="34" charset="-120"/>
              </a:rPr>
              <a:t>Credit Pre-Screening Engine</a:t>
            </a:r>
            <a:endParaRPr lang="en-US" sz="4800" dirty="0">
              <a:latin typeface="Bahnschrift Condensed" panose="020B0502040204020203" pitchFamily="34" charset="0"/>
            </a:endParaRPr>
          </a:p>
        </p:txBody>
      </p:sp>
      <p:sp>
        <p:nvSpPr>
          <p:cNvPr id="6" name="Text 4"/>
          <p:cNvSpPr txBox="1"/>
          <p:nvPr/>
        </p:nvSpPr>
        <p:spPr>
          <a:xfrm>
            <a:off x="548640" y="2468880"/>
            <a:ext cx="5486400" cy="822960"/>
          </a:xfrm>
          <a:prstGeom prst="rect">
            <a:avLst/>
          </a:prstGeom>
          <a:noFill/>
          <a:ln/>
        </p:spPr>
        <p:txBody>
          <a:bodyPr wrap="square" lIns="0" tIns="0" rIns="0" bIns="0" rtlCol="0" anchor="t"/>
          <a:lstStyle/>
          <a:p>
            <a:pPr marL="0" indent="0">
              <a:buNone/>
            </a:pPr>
            <a:r>
              <a:rPr lang="en-US" sz="1800" dirty="0">
                <a:solidFill>
                  <a:srgbClr val="D0D5DB"/>
                </a:solidFill>
                <a:latin typeface="Calibri" pitchFamily="34" charset="0"/>
                <a:ea typeface="Calibri" pitchFamily="34" charset="-122"/>
                <a:cs typeface="Calibri" pitchFamily="34" charset="-120"/>
              </a:rPr>
              <a:t>Loan Intake Optimisation: how much of the manual queue can a model safely take over?</a:t>
            </a:r>
            <a:endParaRPr lang="en-US" sz="1800" dirty="0"/>
          </a:p>
        </p:txBody>
      </p:sp>
      <p:sp>
        <p:nvSpPr>
          <p:cNvPr id="7" name="Text 5"/>
          <p:cNvSpPr txBox="1"/>
          <p:nvPr/>
        </p:nvSpPr>
        <p:spPr>
          <a:xfrm>
            <a:off x="548640" y="3931920"/>
            <a:ext cx="6400800" cy="27432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Part 1: Baseline Pre-Screener   |   Part 2: Model Comparison &amp; Two-Lane Design</a:t>
            </a:r>
            <a:endParaRPr lang="en-US" sz="1300" dirty="0"/>
          </a:p>
        </p:txBody>
      </p:sp>
      <p:sp>
        <p:nvSpPr>
          <p:cNvPr id="8" name="Text 6"/>
          <p:cNvSpPr txBox="1"/>
          <p:nvPr/>
        </p:nvSpPr>
        <p:spPr>
          <a:xfrm>
            <a:off x="548640" y="4297680"/>
            <a:ext cx="5486400" cy="274320"/>
          </a:xfrm>
          <a:prstGeom prst="rect">
            <a:avLst/>
          </a:prstGeom>
          <a:noFill/>
          <a:ln/>
        </p:spPr>
        <p:txBody>
          <a:bodyPr wrap="square" lIns="0" tIns="0" rIns="0" bIns="0" rtlCol="0" anchor="t"/>
          <a:lstStyle/>
          <a:p>
            <a:pPr marL="0" indent="0">
              <a:buNone/>
            </a:pPr>
            <a:r>
              <a:rPr lang="en-US" sz="1600" b="1" dirty="0">
                <a:solidFill>
                  <a:schemeClr val="bg1"/>
                </a:solidFill>
                <a:latin typeface="Calibri" pitchFamily="34" charset="0"/>
                <a:ea typeface="Calibri" pitchFamily="34" charset="-122"/>
                <a:cs typeface="Calibri" pitchFamily="34" charset="-120"/>
              </a:rPr>
              <a:t>Presented by Vandana |Suman Srinivas | Guthi Vignesh Babu</a:t>
            </a:r>
            <a:endParaRPr lang="en-US" sz="16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3495A6A2-4A0F-3A03-66EA-30912BCF0A11}"/>
            </a:ext>
          </a:extLst>
        </p:cNvPr>
        <p:cNvGrpSpPr/>
        <p:nvPr/>
      </p:nvGrpSpPr>
      <p:grpSpPr>
        <a:xfrm>
          <a:off x="0" y="0"/>
          <a:ext cx="0" cy="0"/>
          <a:chOff x="0" y="0"/>
          <a:chExt cx="0" cy="0"/>
        </a:xfrm>
      </p:grpSpPr>
      <p:sp>
        <p:nvSpPr>
          <p:cNvPr id="13" name="Shape 1">
            <a:extLst>
              <a:ext uri="{FF2B5EF4-FFF2-40B4-BE49-F238E27FC236}">
                <a16:creationId xmlns:a16="http://schemas.microsoft.com/office/drawing/2014/main" id="{226AE43E-EC4C-B5D6-A710-A23C97EF50A7}"/>
              </a:ext>
            </a:extLst>
          </p:cNvPr>
          <p:cNvSpPr/>
          <p:nvPr/>
        </p:nvSpPr>
        <p:spPr>
          <a:xfrm>
            <a:off x="-1168400" y="2979420"/>
            <a:ext cx="3108960" cy="3108960"/>
          </a:xfrm>
          <a:prstGeom prst="ellipse">
            <a:avLst/>
          </a:prstGeom>
          <a:solidFill>
            <a:srgbClr val="1565C0"/>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12" name="Shape 0">
            <a:extLst>
              <a:ext uri="{FF2B5EF4-FFF2-40B4-BE49-F238E27FC236}">
                <a16:creationId xmlns:a16="http://schemas.microsoft.com/office/drawing/2014/main" id="{E412D311-53CB-1FC3-3E20-DBC378C98B66}"/>
              </a:ext>
            </a:extLst>
          </p:cNvPr>
          <p:cNvSpPr/>
          <p:nvPr/>
        </p:nvSpPr>
        <p:spPr>
          <a:xfrm>
            <a:off x="6675120" y="-662940"/>
            <a:ext cx="3840480" cy="3840480"/>
          </a:xfrm>
          <a:prstGeom prst="ellipse">
            <a:avLst/>
          </a:prstGeom>
          <a:solidFill>
            <a:srgbClr val="FF6600"/>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graphicFrame>
        <p:nvGraphicFramePr>
          <p:cNvPr id="9" name="Canvas table">
            <a:extLst>
              <a:ext uri="{FF2B5EF4-FFF2-40B4-BE49-F238E27FC236}">
                <a16:creationId xmlns:a16="http://schemas.microsoft.com/office/drawing/2014/main" id="{F4BB1DB8-4EBB-2E62-E107-1E90FC0ABF80}"/>
              </a:ext>
            </a:extLst>
          </p:cNvPr>
          <p:cNvGraphicFramePr>
            <a:graphicFrameLocks noGrp="1"/>
          </p:cNvGraphicFramePr>
          <p:nvPr>
            <p:extLst>
              <p:ext uri="{D42A27DB-BD31-4B8C-83A1-F6EECF244321}">
                <p14:modId xmlns:p14="http://schemas.microsoft.com/office/powerpoint/2010/main" val="3755087758"/>
              </p:ext>
            </p:extLst>
          </p:nvPr>
        </p:nvGraphicFramePr>
        <p:xfrm>
          <a:off x="314960" y="609600"/>
          <a:ext cx="8514080" cy="4224950"/>
        </p:xfrm>
        <a:graphic>
          <a:graphicData uri="http://schemas.openxmlformats.org/drawingml/2006/table">
            <a:tbl>
              <a:tblPr/>
              <a:tblGrid>
                <a:gridCol w="1311983">
                  <a:extLst>
                    <a:ext uri="{9D8B030D-6E8A-4147-A177-3AD203B41FA5}">
                      <a16:colId xmlns:a16="http://schemas.microsoft.com/office/drawing/2014/main" val="20000"/>
                    </a:ext>
                  </a:extLst>
                </a:gridCol>
                <a:gridCol w="7202097">
                  <a:extLst>
                    <a:ext uri="{9D8B030D-6E8A-4147-A177-3AD203B41FA5}">
                      <a16:colId xmlns:a16="http://schemas.microsoft.com/office/drawing/2014/main" val="20001"/>
                    </a:ext>
                  </a:extLst>
                </a:gridCol>
              </a:tblGrid>
              <a:tr h="247596">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Canvas element</a:t>
                      </a:r>
                      <a:endParaRPr lang="en-US" sz="1000" dirty="0">
                        <a:latin typeface="Calibri" charset="0"/>
                        <a:ea typeface="Calibri" charset="0"/>
                        <a:cs typeface="Calibri" charset="0"/>
                      </a:endParaRPr>
                    </a:p>
                  </a:txBody>
                  <a:tcPr marT="54864" marB="548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5C8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Answer</a:t>
                      </a:r>
                      <a:endParaRPr lang="en-US" sz="1000" dirty="0">
                        <a:latin typeface="Calibri" charset="0"/>
                        <a:ea typeface="Calibri" charset="0"/>
                        <a:cs typeface="Calibri" charset="0"/>
                      </a:endParaRPr>
                    </a:p>
                  </a:txBody>
                  <a:tcPr marT="54864" marB="5486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E5C8A"/>
                    </a:solidFill>
                  </a:tcPr>
                </a:tc>
                <a:extLst>
                  <a:ext uri="{0D108BD9-81ED-4DB2-BD59-A6C34878D82A}">
                    <a16:rowId xmlns:a16="http://schemas.microsoft.com/office/drawing/2014/main" val="10000"/>
                  </a:ext>
                </a:extLst>
              </a:tr>
              <a:tr h="397241">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Situation (S)</a:t>
                      </a:r>
                      <a:endParaRPr lang="en-US" sz="1000" dirty="0">
                        <a:latin typeface="Calibri" charset="0"/>
                        <a:ea typeface="Calibri" charset="0"/>
                        <a:cs typeface="Calibri"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F3A5F"/>
                    </a:solidFill>
                  </a:tcPr>
                </a:tc>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A mid-size private bank's retail lending unit receives ~3,000 unsecured personal-loan applications a month. Every application goes through a ~25-minute manual credit review, about 1,250 analyst hours a month.</a:t>
                      </a:r>
                      <a:endParaRPr lang="en-US" sz="1000" dirty="0">
                        <a:latin typeface="Calibri" charset="0"/>
                        <a:ea typeface="Calibri" charset="0"/>
                        <a:cs typeface="Calibri"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4617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Complication (C)</a:t>
                      </a:r>
                      <a:endParaRPr lang="en-US" sz="1000" dirty="0">
                        <a:latin typeface="Calibri" charset="0"/>
                        <a:ea typeface="Calibri" charset="0"/>
                        <a:cs typeface="Calibri"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F3A5F"/>
                    </a:solidFill>
                  </a:tcPr>
                </a:tc>
                <a:tc>
                  <a:txBody>
                    <a:bodyPr/>
                    <a:lstStyle/>
                    <a:p>
                      <a:pPr marL="0" indent="0">
                        <a:buNone/>
                      </a:pPr>
                      <a:r>
                        <a:rPr lang="en-US" sz="1000" i="1" dirty="0">
                          <a:solidFill>
                            <a:srgbClr val="222222"/>
                          </a:solidFill>
                          <a:latin typeface="Calibri" pitchFamily="34" charset="0"/>
                          <a:ea typeface="Calibri" pitchFamily="34" charset="-122"/>
                          <a:cs typeface="Calibri" pitchFamily="34" charset="-120"/>
                        </a:rPr>
                        <a:t>Bank: </a:t>
                      </a:r>
                      <a:r>
                        <a:rPr lang="en-US" sz="1000" dirty="0">
                          <a:solidFill>
                            <a:srgbClr val="222222"/>
                          </a:solidFill>
                          <a:latin typeface="Calibri" pitchFamily="34" charset="0"/>
                          <a:ea typeface="Calibri" pitchFamily="34" charset="-122"/>
                          <a:cs typeface="Calibri" pitchFamily="34" charset="-120"/>
                        </a:rPr>
                        <a:t>analyst time is spent on obvious cases, because close to half of applications end in decline and many are clear within a minute. </a:t>
                      </a:r>
                      <a:r>
                        <a:rPr lang="en-US" sz="1000" i="1" dirty="0">
                          <a:solidFill>
                            <a:srgbClr val="222222"/>
                          </a:solidFill>
                          <a:latin typeface="Calibri" pitchFamily="34" charset="0"/>
                          <a:ea typeface="Calibri" pitchFamily="34" charset="-122"/>
                          <a:cs typeface="Calibri" pitchFamily="34" charset="-120"/>
                        </a:rPr>
                        <a:t>Analysts: </a:t>
                      </a:r>
                      <a:r>
                        <a:rPr lang="en-US" sz="1000" dirty="0">
                          <a:solidFill>
                            <a:srgbClr val="222222"/>
                          </a:solidFill>
                          <a:latin typeface="Calibri" pitchFamily="34" charset="0"/>
                          <a:ea typeface="Calibri" pitchFamily="34" charset="-122"/>
                          <a:cs typeface="Calibri" pitchFamily="34" charset="-120"/>
                        </a:rPr>
                        <a:t>the queue is clogged with work that needs no judgement. </a:t>
                      </a:r>
                      <a:r>
                        <a:rPr lang="en-US" sz="1000" i="1" dirty="0">
                          <a:solidFill>
                            <a:srgbClr val="222222"/>
                          </a:solidFill>
                          <a:latin typeface="Calibri" pitchFamily="34" charset="0"/>
                          <a:ea typeface="Calibri" pitchFamily="34" charset="-122"/>
                          <a:cs typeface="Calibri" pitchFamily="34" charset="-120"/>
                        </a:rPr>
                        <a:t>Applicants: </a:t>
                      </a:r>
                      <a:r>
                        <a:rPr lang="en-US" sz="1000" dirty="0">
                          <a:solidFill>
                            <a:srgbClr val="222222"/>
                          </a:solidFill>
                          <a:latin typeface="Calibri" pitchFamily="34" charset="0"/>
                          <a:ea typeface="Calibri" pitchFamily="34" charset="-122"/>
                          <a:cs typeface="Calibri" pitchFamily="34" charset="-120"/>
                        </a:rPr>
                        <a:t>good customers wait in the same queue as hopeless applications, and clear declines wait for an answer they could have had instantly. Automating blindly is also risky: wrongly declining a good customer loses revenue, wrongly approving a risky one creates credit loss, and a model can quietly automate a bias.</a:t>
                      </a:r>
                      <a:endParaRPr lang="en-US" sz="1000" dirty="0">
                        <a:latin typeface="Calibri" charset="0"/>
                        <a:ea typeface="Calibri" charset="0"/>
                        <a:cs typeface="Calibri"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6887">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Question (Q)</a:t>
                      </a:r>
                      <a:endParaRPr lang="en-US" sz="1000" dirty="0">
                        <a:latin typeface="Calibri" charset="0"/>
                        <a:ea typeface="Calibri" charset="0"/>
                        <a:cs typeface="Calibri"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F3A5F"/>
                    </a:solidFill>
                  </a:tcPr>
                </a:tc>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Which applications can </a:t>
                      </a:r>
                      <a:r>
                        <a:rPr lang="en-US" sz="1000" b="1" dirty="0">
                          <a:solidFill>
                            <a:srgbClr val="222222"/>
                          </a:solidFill>
                          <a:latin typeface="Calibri" pitchFamily="34" charset="0"/>
                          <a:ea typeface="Calibri" pitchFamily="34" charset="-122"/>
                          <a:cs typeface="Calibri" pitchFamily="34" charset="-120"/>
                        </a:rPr>
                        <a:t>skip the full manual review</a:t>
                      </a:r>
                      <a:r>
                        <a:rPr lang="en-US" sz="1000" dirty="0">
                          <a:solidFill>
                            <a:srgbClr val="222222"/>
                          </a:solidFill>
                          <a:latin typeface="Calibri" pitchFamily="34" charset="0"/>
                          <a:ea typeface="Calibri" pitchFamily="34" charset="-122"/>
                          <a:cs typeface="Calibri" pitchFamily="34" charset="-120"/>
                        </a:rPr>
                        <a:t>? The model will route every application into one of three lanes: </a:t>
                      </a:r>
                      <a:r>
                        <a:rPr lang="en-US" sz="1000" b="1" dirty="0">
                          <a:solidFill>
                            <a:srgbClr val="222222"/>
                          </a:solidFill>
                          <a:latin typeface="Calibri" pitchFamily="34" charset="0"/>
                          <a:ea typeface="Calibri" pitchFamily="34" charset="-122"/>
                          <a:cs typeface="Calibri" pitchFamily="34" charset="-120"/>
                        </a:rPr>
                        <a:t>auto-decline</a:t>
                      </a:r>
                      <a:r>
                        <a:rPr lang="en-US" sz="1000" dirty="0">
                          <a:solidFill>
                            <a:srgbClr val="222222"/>
                          </a:solidFill>
                          <a:latin typeface="Calibri" pitchFamily="34" charset="0"/>
                          <a:ea typeface="Calibri" pitchFamily="34" charset="-122"/>
                          <a:cs typeface="Calibri" pitchFamily="34" charset="-120"/>
                        </a:rPr>
                        <a:t> (model very confident it is a decline), </a:t>
                      </a:r>
                      <a:r>
                        <a:rPr lang="en-US" sz="1000" b="1" dirty="0">
                          <a:solidFill>
                            <a:srgbClr val="222222"/>
                          </a:solidFill>
                          <a:latin typeface="Calibri" pitchFamily="34" charset="0"/>
                          <a:ea typeface="Calibri" pitchFamily="34" charset="-122"/>
                          <a:cs typeface="Calibri" pitchFamily="34" charset="-120"/>
                        </a:rPr>
                        <a:t>fast-track</a:t>
                      </a:r>
                      <a:r>
                        <a:rPr lang="en-US" sz="1000" dirty="0">
                          <a:solidFill>
                            <a:srgbClr val="222222"/>
                          </a:solidFill>
                          <a:latin typeface="Calibri" pitchFamily="34" charset="0"/>
                          <a:ea typeface="Calibri" pitchFamily="34" charset="-122"/>
                          <a:cs typeface="Calibri" pitchFamily="34" charset="-120"/>
                        </a:rPr>
                        <a:t> (very confident it is an approval, light-touch check only) or </a:t>
                      </a:r>
                      <a:r>
                        <a:rPr lang="en-US" sz="1000" b="1" dirty="0">
                          <a:solidFill>
                            <a:srgbClr val="222222"/>
                          </a:solidFill>
                          <a:latin typeface="Calibri" pitchFamily="34" charset="0"/>
                          <a:ea typeface="Calibri" pitchFamily="34" charset="-122"/>
                          <a:cs typeface="Calibri" pitchFamily="34" charset="-120"/>
                        </a:rPr>
                        <a:t>analyst review</a:t>
                      </a:r>
                      <a:r>
                        <a:rPr lang="en-US" sz="1000" dirty="0">
                          <a:solidFill>
                            <a:srgbClr val="222222"/>
                          </a:solidFill>
                          <a:latin typeface="Calibri" pitchFamily="34" charset="0"/>
                          <a:ea typeface="Calibri" pitchFamily="34" charset="-122"/>
                          <a:cs typeface="Calibri" pitchFamily="34" charset="-120"/>
                        </a:rPr>
                        <a:t>. The bank decision is </a:t>
                      </a:r>
                      <a:r>
                        <a:rPr lang="en-US" sz="1000" i="1" dirty="0">
                          <a:solidFill>
                            <a:srgbClr val="222222"/>
                          </a:solidFill>
                          <a:latin typeface="Calibri" pitchFamily="34" charset="0"/>
                          <a:ea typeface="Calibri" pitchFamily="34" charset="-122"/>
                          <a:cs typeface="Calibri" pitchFamily="34" charset="-120"/>
                        </a:rPr>
                        <a:t>which model and which two thresholds</a:t>
                      </a:r>
                      <a:r>
                        <a:rPr lang="en-US" sz="1000" dirty="0">
                          <a:solidFill>
                            <a:srgbClr val="222222"/>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96532">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SSOT</a:t>
                      </a:r>
                      <a:endParaRPr lang="en-US" sz="1000" dirty="0">
                        <a:latin typeface="Calibri" charset="0"/>
                        <a:ea typeface="Calibri" charset="0"/>
                        <a:cs typeface="Calibri"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F3A5F"/>
                    </a:solidFill>
                  </a:tcPr>
                </a:tc>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The single source of truth is MUC02_Credit_PreScreening_Dataset.csv: 12,000 applications, Apr–Sep 2026. The decision column records </a:t>
                      </a:r>
                      <a:r>
                        <a:rPr lang="en-US" sz="1000" b="1" dirty="0">
                          <a:solidFill>
                            <a:srgbClr val="222222"/>
                          </a:solidFill>
                          <a:latin typeface="Calibri" pitchFamily="34" charset="0"/>
                          <a:ea typeface="Calibri" pitchFamily="34" charset="-122"/>
                          <a:cs typeface="Calibri" pitchFamily="34" charset="-120"/>
                        </a:rPr>
                        <a:t>what the credit analysts decided, not whether the loan was later repaid</a:t>
                      </a:r>
                      <a:r>
                        <a:rPr lang="en-US" sz="1000" dirty="0">
                          <a:solidFill>
                            <a:srgbClr val="222222"/>
                          </a:solidFill>
                          <a:latin typeface="Calibri" pitchFamily="34" charset="0"/>
                          <a:ea typeface="Calibri" pitchFamily="34" charset="-122"/>
                          <a:cs typeface="Calibri" pitchFamily="34" charset="-120"/>
                        </a:rPr>
                        <a:t>. The model therefore learns the bank's </a:t>
                      </a:r>
                      <a:r>
                        <a:rPr lang="en-US" sz="1000" i="1" dirty="0">
                          <a:solidFill>
                            <a:srgbClr val="222222"/>
                          </a:solidFill>
                          <a:latin typeface="Calibri" pitchFamily="34" charset="0"/>
                          <a:ea typeface="Calibri" pitchFamily="34" charset="-122"/>
                          <a:cs typeface="Calibri" pitchFamily="34" charset="-120"/>
                        </a:rPr>
                        <a:t>historical policy and habits</a:t>
                      </a:r>
                      <a:r>
                        <a:rPr lang="en-US" sz="1000" dirty="0">
                          <a:solidFill>
                            <a:srgbClr val="222222"/>
                          </a:solidFill>
                          <a:latin typeface="Calibri" pitchFamily="34" charset="0"/>
                          <a:ea typeface="Calibri" pitchFamily="34" charset="-122"/>
                          <a:cs typeface="Calibri" pitchFamily="34" charset="-120"/>
                        </a:rPr>
                        <a:t> (including any inconsistency or bias), not true creditworthiness. "Wrongly declined" really means "declined by the model but approved by the credit team".</a:t>
                      </a:r>
                      <a:endParaRPr lang="en-US" sz="1000" dirty="0">
                        <a:latin typeface="Calibri" charset="0"/>
                        <a:ea typeface="Calibri" charset="0"/>
                        <a:cs typeface="Calibri"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96532">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Success definition</a:t>
                      </a:r>
                      <a:endParaRPr lang="en-US" sz="1000" dirty="0">
                        <a:latin typeface="Calibri" charset="0"/>
                        <a:ea typeface="Calibri" charset="0"/>
                        <a:cs typeface="Calibri"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F3A5F"/>
                    </a:solidFill>
                  </a:tcPr>
                </a:tc>
                <a:tc>
                  <a:txBody>
                    <a:bodyPr/>
                    <a:lstStyle/>
                    <a:p>
                      <a:pPr marL="0" indent="0">
                        <a:buNone/>
                      </a:pPr>
                      <a:r>
                        <a:rPr lang="en-US" sz="1000" b="1" dirty="0">
                          <a:solidFill>
                            <a:srgbClr val="222222"/>
                          </a:solidFill>
                          <a:latin typeface="Calibri" pitchFamily="34" charset="0"/>
                          <a:ea typeface="Calibri" pitchFamily="34" charset="-122"/>
                          <a:cs typeface="Calibri" pitchFamily="34" charset="-120"/>
                        </a:rPr>
                        <a:t>Hard limits (risk appetite): </a:t>
                      </a:r>
                      <a:r>
                        <a:rPr lang="en-US" sz="1000" dirty="0">
                          <a:solidFill>
                            <a:srgbClr val="222222"/>
                          </a:solidFill>
                          <a:latin typeface="Calibri" pitchFamily="34" charset="0"/>
                          <a:ea typeface="Calibri" pitchFamily="34" charset="-122"/>
                          <a:cs typeface="Calibri" pitchFamily="34" charset="-120"/>
                        </a:rPr>
                        <a:t>at most </a:t>
                      </a:r>
                      <a:r>
                        <a:rPr lang="en-US" sz="1000" b="1" dirty="0">
                          <a:solidFill>
                            <a:srgbClr val="222222"/>
                          </a:solidFill>
                          <a:latin typeface="Calibri" pitchFamily="34" charset="0"/>
                          <a:ea typeface="Calibri" pitchFamily="34" charset="-122"/>
                          <a:cs typeface="Calibri" pitchFamily="34" charset="-120"/>
                        </a:rPr>
                        <a:t>5%</a:t>
                      </a:r>
                      <a:r>
                        <a:rPr lang="en-US" sz="1000" dirty="0">
                          <a:solidFill>
                            <a:srgbClr val="222222"/>
                          </a:solidFill>
                          <a:latin typeface="Calibri" pitchFamily="34" charset="0"/>
                          <a:ea typeface="Calibri" pitchFamily="34" charset="-122"/>
                          <a:cs typeface="Calibri" pitchFamily="34" charset="-120"/>
                        </a:rPr>
                        <a:t> of the auto-decline lane may be applications the team approved, and at most </a:t>
                      </a:r>
                      <a:r>
                        <a:rPr lang="en-US" sz="1000" b="1" dirty="0">
                          <a:solidFill>
                            <a:srgbClr val="222222"/>
                          </a:solidFill>
                          <a:latin typeface="Calibri" pitchFamily="34" charset="0"/>
                          <a:ea typeface="Calibri" pitchFamily="34" charset="-122"/>
                          <a:cs typeface="Calibri" pitchFamily="34" charset="-120"/>
                        </a:rPr>
                        <a:t>5%</a:t>
                      </a:r>
                      <a:r>
                        <a:rPr lang="en-US" sz="1000" dirty="0">
                          <a:solidFill>
                            <a:srgbClr val="222222"/>
                          </a:solidFill>
                          <a:latin typeface="Calibri" pitchFamily="34" charset="0"/>
                          <a:ea typeface="Calibri" pitchFamily="34" charset="-122"/>
                          <a:cs typeface="Calibri" pitchFamily="34" charset="-120"/>
                        </a:rPr>
                        <a:t> of the fast-track lane may be applications the team declined. </a:t>
                      </a:r>
                      <a:r>
                        <a:rPr lang="en-US" sz="1000" b="1" dirty="0">
                          <a:solidFill>
                            <a:srgbClr val="222222"/>
                          </a:solidFill>
                          <a:latin typeface="Calibri" pitchFamily="34" charset="0"/>
                          <a:ea typeface="Calibri" pitchFamily="34" charset="-122"/>
                          <a:cs typeface="Calibri" pitchFamily="34" charset="-120"/>
                        </a:rPr>
                        <a:t>Objective: </a:t>
                      </a:r>
                      <a:r>
                        <a:rPr lang="en-US" sz="1000" dirty="0">
                          <a:solidFill>
                            <a:srgbClr val="222222"/>
                          </a:solidFill>
                          <a:latin typeface="Calibri" pitchFamily="34" charset="0"/>
                          <a:ea typeface="Calibri" pitchFamily="34" charset="-122"/>
                          <a:cs typeface="Calibri" pitchFamily="34" charset="-120"/>
                        </a:rPr>
                        <a:t>within those limits, move the </a:t>
                      </a:r>
                      <a:r>
                        <a:rPr lang="en-US" sz="1000" b="1" dirty="0">
                          <a:solidFill>
                            <a:srgbClr val="222222"/>
                          </a:solidFill>
                          <a:latin typeface="Calibri" pitchFamily="34" charset="0"/>
                          <a:ea typeface="Calibri" pitchFamily="34" charset="-122"/>
                          <a:cs typeface="Calibri" pitchFamily="34" charset="-120"/>
                        </a:rPr>
                        <a:t>maximum share</a:t>
                      </a:r>
                      <a:r>
                        <a:rPr lang="en-US" sz="1000" dirty="0">
                          <a:solidFill>
                            <a:srgbClr val="222222"/>
                          </a:solidFill>
                          <a:latin typeface="Calibri" pitchFamily="34" charset="0"/>
                          <a:ea typeface="Calibri" pitchFamily="34" charset="-122"/>
                          <a:cs typeface="Calibri" pitchFamily="34" charset="-120"/>
                        </a:rPr>
                        <a:t> of applications (and analyst hours) out of the manual queue. </a:t>
                      </a:r>
                      <a:r>
                        <a:rPr lang="en-US" sz="1000" b="1" dirty="0">
                          <a:solidFill>
                            <a:srgbClr val="222222"/>
                          </a:solidFill>
                          <a:latin typeface="Calibri" pitchFamily="34" charset="0"/>
                          <a:ea typeface="Calibri" pitchFamily="34" charset="-122"/>
                          <a:cs typeface="Calibri" pitchFamily="34" charset="-120"/>
                        </a:rPr>
                        <a:t>Guardrails: </a:t>
                      </a:r>
                      <a:r>
                        <a:rPr lang="en-US" sz="1000" dirty="0">
                          <a:solidFill>
                            <a:srgbClr val="222222"/>
                          </a:solidFill>
                          <a:latin typeface="Calibri" pitchFamily="34" charset="0"/>
                          <a:ea typeface="Calibri" pitchFamily="34" charset="-122"/>
                          <a:cs typeface="Calibri" pitchFamily="34" charset="-120"/>
                        </a:rPr>
                        <a:t>no widening of the gender gap; a model whose declines the credit team can explain. Accuracy is </a:t>
                      </a:r>
                      <a:r>
                        <a:rPr lang="en-US" sz="1000" i="1" dirty="0">
                          <a:solidFill>
                            <a:srgbClr val="222222"/>
                          </a:solidFill>
                          <a:latin typeface="Calibri" pitchFamily="34" charset="0"/>
                          <a:ea typeface="Calibri" pitchFamily="34" charset="-122"/>
                          <a:cs typeface="Calibri" pitchFamily="34" charset="-120"/>
                        </a:rPr>
                        <a:t>not</a:t>
                      </a:r>
                      <a:r>
                        <a:rPr lang="en-US" sz="1000" dirty="0">
                          <a:solidFill>
                            <a:srgbClr val="222222"/>
                          </a:solidFill>
                          <a:latin typeface="Calibri" pitchFamily="34" charset="0"/>
                          <a:ea typeface="Calibri" pitchFamily="34" charset="-122"/>
                          <a:cs typeface="Calibri" pitchFamily="34" charset="-120"/>
                        </a:rPr>
                        <a:t> the success metric.</a:t>
                      </a:r>
                      <a:endParaRPr lang="en-US" sz="1000" dirty="0">
                        <a:latin typeface="Calibri" charset="0"/>
                        <a:ea typeface="Calibri" charset="0"/>
                        <a:cs typeface="Calibri"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96532">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Primary stakeholder</a:t>
                      </a:r>
                      <a:endParaRPr lang="en-US" sz="1000" dirty="0">
                        <a:latin typeface="Calibri" charset="0"/>
                        <a:ea typeface="Calibri" charset="0"/>
                        <a:cs typeface="Calibri"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F3A5F"/>
                    </a:solidFill>
                  </a:tcPr>
                </a:tc>
                <a:tc>
                  <a:txBody>
                    <a:bodyPr/>
                    <a:lstStyle/>
                    <a:p>
                      <a:pPr marL="0" indent="0">
                        <a:buNone/>
                      </a:pPr>
                      <a:r>
                        <a:rPr lang="en-US" sz="1000" dirty="0">
                          <a:solidFill>
                            <a:srgbClr val="222222"/>
                          </a:solidFill>
                          <a:latin typeface="Calibri" pitchFamily="34" charset="0"/>
                          <a:ea typeface="Calibri" pitchFamily="34" charset="-122"/>
                          <a:cs typeface="Calibri" pitchFamily="34" charset="-120"/>
                        </a:rPr>
                        <a:t>The </a:t>
                      </a:r>
                      <a:r>
                        <a:rPr lang="en-US" sz="1000" b="1" dirty="0">
                          <a:solidFill>
                            <a:srgbClr val="222222"/>
                          </a:solidFill>
                          <a:latin typeface="Calibri" pitchFamily="34" charset="0"/>
                          <a:ea typeface="Calibri" pitchFamily="34" charset="-122"/>
                          <a:cs typeface="Calibri" pitchFamily="34" charset="-120"/>
                        </a:rPr>
                        <a:t>Credit Policy Analyst</a:t>
                      </a:r>
                      <a:r>
                        <a:rPr lang="en-US" sz="1000" dirty="0">
                          <a:solidFill>
                            <a:srgbClr val="222222"/>
                          </a:solidFill>
                          <a:latin typeface="Calibri" pitchFamily="34" charset="0"/>
                          <a:ea typeface="Calibri" pitchFamily="34" charset="-122"/>
                          <a:cs typeface="Calibri" pitchFamily="34" charset="-120"/>
                        </a:rPr>
                        <a:t>, who must defend the proposal to the </a:t>
                      </a:r>
                      <a:r>
                        <a:rPr lang="en-US" sz="1000" b="1" dirty="0">
                          <a:solidFill>
                            <a:srgbClr val="222222"/>
                          </a:solidFill>
                          <a:latin typeface="Calibri" pitchFamily="34" charset="0"/>
                          <a:ea typeface="Calibri" pitchFamily="34" charset="-122"/>
                          <a:cs typeface="Calibri" pitchFamily="34" charset="-120"/>
                        </a:rPr>
                        <a:t>Head of Retail Lending</a:t>
                      </a:r>
                      <a:r>
                        <a:rPr lang="en-US" sz="1000" dirty="0">
                          <a:solidFill>
                            <a:srgbClr val="222222"/>
                          </a:solidFill>
                          <a:latin typeface="Calibri" pitchFamily="34" charset="0"/>
                          <a:ea typeface="Calibri" pitchFamily="34" charset="-122"/>
                          <a:cs typeface="Calibri" pitchFamily="34" charset="-120"/>
                        </a:rPr>
                        <a:t> (owner of the risk limit). Also affected: the </a:t>
                      </a:r>
                      <a:r>
                        <a:rPr lang="en-US" sz="1000" b="1" dirty="0">
                          <a:solidFill>
                            <a:srgbClr val="222222"/>
                          </a:solidFill>
                          <a:latin typeface="Calibri" pitchFamily="34" charset="0"/>
                          <a:ea typeface="Calibri" pitchFamily="34" charset="-122"/>
                          <a:cs typeface="Calibri" pitchFamily="34" charset="-120"/>
                        </a:rPr>
                        <a:t>credit analysts</a:t>
                      </a:r>
                      <a:r>
                        <a:rPr lang="en-US" sz="1000" dirty="0">
                          <a:solidFill>
                            <a:srgbClr val="222222"/>
                          </a:solidFill>
                          <a:latin typeface="Calibri" pitchFamily="34" charset="0"/>
                          <a:ea typeface="Calibri" pitchFamily="34" charset="-122"/>
                          <a:cs typeface="Calibri" pitchFamily="34" charset="-120"/>
                        </a:rPr>
                        <a:t> (their work changes), </a:t>
                      </a:r>
                      <a:r>
                        <a:rPr lang="en-US" sz="1000" b="1" dirty="0">
                          <a:solidFill>
                            <a:srgbClr val="222222"/>
                          </a:solidFill>
                          <a:latin typeface="Calibri" pitchFamily="34" charset="0"/>
                          <a:ea typeface="Calibri" pitchFamily="34" charset="-122"/>
                          <a:cs typeface="Calibri" pitchFamily="34" charset="-120"/>
                        </a:rPr>
                        <a:t>applicants</a:t>
                      </a:r>
                      <a:r>
                        <a:rPr lang="en-US" sz="1000" dirty="0">
                          <a:solidFill>
                            <a:srgbClr val="222222"/>
                          </a:solidFill>
                          <a:latin typeface="Calibri" pitchFamily="34" charset="0"/>
                          <a:ea typeface="Calibri" pitchFamily="34" charset="-122"/>
                          <a:cs typeface="Calibri" pitchFamily="34" charset="-120"/>
                        </a:rPr>
                        <a:t> (especially gig workers, new-to-credit customers and women, who could be disadvantaged by a biased model) and </a:t>
                      </a:r>
                      <a:r>
                        <a:rPr lang="en-US" sz="1000" b="1" dirty="0">
                          <a:solidFill>
                            <a:srgbClr val="222222"/>
                          </a:solidFill>
                          <a:latin typeface="Calibri" pitchFamily="34" charset="0"/>
                          <a:ea typeface="Calibri" pitchFamily="34" charset="-122"/>
                          <a:cs typeface="Calibri" pitchFamily="34" charset="-120"/>
                        </a:rPr>
                        <a:t>Compliance / Risk</a:t>
                      </a:r>
                      <a:r>
                        <a:rPr lang="en-US" sz="1000" dirty="0">
                          <a:solidFill>
                            <a:srgbClr val="222222"/>
                          </a:solidFill>
                          <a:latin typeface="Calibri" pitchFamily="34" charset="0"/>
                          <a:ea typeface="Calibri" pitchFamily="34" charset="-122"/>
                          <a:cs typeface="Calibri" pitchFamily="34" charset="-120"/>
                        </a:rPr>
                        <a:t> (who must be able to explain declines).</a:t>
                      </a:r>
                      <a:endParaRPr lang="en-US" sz="1000" dirty="0">
                        <a:latin typeface="Calibri" charset="0"/>
                        <a:ea typeface="Calibri" charset="0"/>
                        <a:cs typeface="Calibri"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1" name="TextBox 10">
            <a:extLst>
              <a:ext uri="{FF2B5EF4-FFF2-40B4-BE49-F238E27FC236}">
                <a16:creationId xmlns:a16="http://schemas.microsoft.com/office/drawing/2014/main" id="{AF1587D5-7EC8-40B0-F145-7C27A3FC7EE2}"/>
              </a:ext>
            </a:extLst>
          </p:cNvPr>
          <p:cNvSpPr txBox="1"/>
          <p:nvPr/>
        </p:nvSpPr>
        <p:spPr>
          <a:xfrm>
            <a:off x="172720" y="0"/>
            <a:ext cx="4572000" cy="523220"/>
          </a:xfrm>
          <a:prstGeom prst="rect">
            <a:avLst/>
          </a:prstGeom>
          <a:noFill/>
        </p:spPr>
        <p:txBody>
          <a:bodyPr wrap="square">
            <a:spAutoFit/>
          </a:bodyPr>
          <a:lstStyle/>
          <a:p>
            <a:pPr marL="0" indent="0">
              <a:buNone/>
            </a:pPr>
            <a:r>
              <a:rPr lang="en-US" sz="2800" b="1" dirty="0">
                <a:solidFill>
                  <a:schemeClr val="bg1"/>
                </a:solidFill>
                <a:latin typeface="Calibri" pitchFamily="34" charset="0"/>
                <a:ea typeface="Calibri" pitchFamily="34" charset="-122"/>
                <a:cs typeface="Calibri" pitchFamily="34" charset="-120"/>
              </a:rPr>
              <a:t>CBIM Problem Canvas</a:t>
            </a:r>
            <a:endParaRPr lang="en-US" sz="2800" dirty="0">
              <a:solidFill>
                <a:schemeClr val="bg1"/>
              </a:solidFill>
            </a:endParaRPr>
          </a:p>
        </p:txBody>
      </p:sp>
    </p:spTree>
    <p:extLst>
      <p:ext uri="{BB962C8B-B14F-4D97-AF65-F5344CB8AC3E}">
        <p14:creationId xmlns:p14="http://schemas.microsoft.com/office/powerpoint/2010/main" val="2164450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2B9F90D-9B5C-9371-27CD-765F220783A1}"/>
            </a:ext>
          </a:extLst>
        </p:cNvPr>
        <p:cNvGrpSpPr/>
        <p:nvPr/>
      </p:nvGrpSpPr>
      <p:grpSpPr>
        <a:xfrm>
          <a:off x="0" y="0"/>
          <a:ext cx="0" cy="0"/>
          <a:chOff x="0" y="0"/>
          <a:chExt cx="0" cy="0"/>
        </a:xfrm>
      </p:grpSpPr>
      <p:sp>
        <p:nvSpPr>
          <p:cNvPr id="20" name="Shape 4">
            <a:extLst>
              <a:ext uri="{FF2B5EF4-FFF2-40B4-BE49-F238E27FC236}">
                <a16:creationId xmlns:a16="http://schemas.microsoft.com/office/drawing/2014/main" id="{D6137920-C480-F24D-489E-BBFA740E2485}"/>
              </a:ext>
            </a:extLst>
          </p:cNvPr>
          <p:cNvSpPr/>
          <p:nvPr/>
        </p:nvSpPr>
        <p:spPr>
          <a:xfrm>
            <a:off x="3291840" y="2301028"/>
            <a:ext cx="2560320" cy="1005840"/>
          </a:xfrm>
          <a:prstGeom prst="roundRect">
            <a:avLst>
              <a:gd name="adj" fmla="val 7273"/>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2" name="Text 0">
            <a:extLst>
              <a:ext uri="{FF2B5EF4-FFF2-40B4-BE49-F238E27FC236}">
                <a16:creationId xmlns:a16="http://schemas.microsoft.com/office/drawing/2014/main" id="{5CFCC239-FD6C-8664-2A5A-D1C791E5A51F}"/>
              </a:ext>
            </a:extLst>
          </p:cNvPr>
          <p:cNvSpPr txBox="1"/>
          <p:nvPr/>
        </p:nvSpPr>
        <p:spPr>
          <a:xfrm>
            <a:off x="457200" y="200957"/>
            <a:ext cx="7315200" cy="548640"/>
          </a:xfrm>
          <a:prstGeom prst="rect">
            <a:avLst/>
          </a:prstGeom>
          <a:noFill/>
          <a:ln/>
        </p:spPr>
        <p:txBody>
          <a:bodyPr wrap="square" lIns="0" tIns="0" rIns="0" bIns="0" rtlCol="0" anchor="ctr"/>
          <a:lstStyle/>
          <a:p>
            <a:r>
              <a:rPr lang="en-US" sz="2800" b="1" dirty="0"/>
              <a:t>Executive summary of Dataset</a:t>
            </a:r>
          </a:p>
        </p:txBody>
      </p:sp>
      <p:sp>
        <p:nvSpPr>
          <p:cNvPr id="3" name="Shape 1">
            <a:extLst>
              <a:ext uri="{FF2B5EF4-FFF2-40B4-BE49-F238E27FC236}">
                <a16:creationId xmlns:a16="http://schemas.microsoft.com/office/drawing/2014/main" id="{688CCCAB-E0B1-970B-4634-11FECC7F171E}"/>
              </a:ext>
            </a:extLst>
          </p:cNvPr>
          <p:cNvSpPr/>
          <p:nvPr/>
        </p:nvSpPr>
        <p:spPr>
          <a:xfrm>
            <a:off x="457200" y="1005840"/>
            <a:ext cx="2560320" cy="1005840"/>
          </a:xfrm>
          <a:prstGeom prst="roundRect">
            <a:avLst>
              <a:gd name="adj" fmla="val 7273"/>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4" name="Text 2">
            <a:extLst>
              <a:ext uri="{FF2B5EF4-FFF2-40B4-BE49-F238E27FC236}">
                <a16:creationId xmlns:a16="http://schemas.microsoft.com/office/drawing/2014/main" id="{E190DFCB-98CA-E4A1-8CF5-92CA6986A5E7}"/>
              </a:ext>
            </a:extLst>
          </p:cNvPr>
          <p:cNvSpPr txBox="1"/>
          <p:nvPr/>
        </p:nvSpPr>
        <p:spPr>
          <a:xfrm>
            <a:off x="1005840" y="1158833"/>
            <a:ext cx="2286000" cy="452628"/>
          </a:xfrm>
          <a:prstGeom prst="rect">
            <a:avLst/>
          </a:prstGeom>
          <a:noFill/>
          <a:ln/>
        </p:spPr>
        <p:txBody>
          <a:bodyPr wrap="square" lIns="0" tIns="0" rIns="0" bIns="0" rtlCol="0" anchor="ctr"/>
          <a:lstStyle/>
          <a:p>
            <a:pPr marL="0" indent="0">
              <a:buNone/>
            </a:pPr>
            <a:r>
              <a:rPr lang="en-US" sz="3000" b="1" dirty="0">
                <a:solidFill>
                  <a:srgbClr val="F57C00"/>
                </a:solidFill>
                <a:latin typeface="Calibri" pitchFamily="34" charset="0"/>
                <a:ea typeface="Calibri" pitchFamily="34" charset="-122"/>
                <a:cs typeface="Calibri" pitchFamily="34" charset="-120"/>
              </a:rPr>
              <a:t>12,000</a:t>
            </a:r>
            <a:endParaRPr lang="en-US" sz="3000" dirty="0"/>
          </a:p>
        </p:txBody>
      </p:sp>
      <p:sp>
        <p:nvSpPr>
          <p:cNvPr id="5" name="Text 3">
            <a:extLst>
              <a:ext uri="{FF2B5EF4-FFF2-40B4-BE49-F238E27FC236}">
                <a16:creationId xmlns:a16="http://schemas.microsoft.com/office/drawing/2014/main" id="{73B44298-44FA-9FEE-B4BA-99D03355DC7A}"/>
              </a:ext>
            </a:extLst>
          </p:cNvPr>
          <p:cNvSpPr txBox="1"/>
          <p:nvPr/>
        </p:nvSpPr>
        <p:spPr>
          <a:xfrm>
            <a:off x="1123103" y="1663731"/>
            <a:ext cx="2286000" cy="402336"/>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Applications </a:t>
            </a:r>
            <a:endParaRPr lang="en-US" sz="1300" dirty="0"/>
          </a:p>
        </p:txBody>
      </p:sp>
      <p:sp>
        <p:nvSpPr>
          <p:cNvPr id="6" name="Shape 4">
            <a:extLst>
              <a:ext uri="{FF2B5EF4-FFF2-40B4-BE49-F238E27FC236}">
                <a16:creationId xmlns:a16="http://schemas.microsoft.com/office/drawing/2014/main" id="{C00E99A9-8DBA-8D8F-B902-061CD59C4705}"/>
              </a:ext>
            </a:extLst>
          </p:cNvPr>
          <p:cNvSpPr/>
          <p:nvPr/>
        </p:nvSpPr>
        <p:spPr>
          <a:xfrm>
            <a:off x="3291840" y="1005840"/>
            <a:ext cx="2560320" cy="1005840"/>
          </a:xfrm>
          <a:prstGeom prst="roundRect">
            <a:avLst>
              <a:gd name="adj" fmla="val 7273"/>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7" name="Text 5">
            <a:extLst>
              <a:ext uri="{FF2B5EF4-FFF2-40B4-BE49-F238E27FC236}">
                <a16:creationId xmlns:a16="http://schemas.microsoft.com/office/drawing/2014/main" id="{6D211A1C-67CB-E434-22B7-7EF69785AA82}"/>
              </a:ext>
            </a:extLst>
          </p:cNvPr>
          <p:cNvSpPr txBox="1"/>
          <p:nvPr/>
        </p:nvSpPr>
        <p:spPr>
          <a:xfrm>
            <a:off x="4069080" y="1145286"/>
            <a:ext cx="1143000" cy="452628"/>
          </a:xfrm>
          <a:prstGeom prst="rect">
            <a:avLst/>
          </a:prstGeom>
          <a:noFill/>
          <a:ln/>
        </p:spPr>
        <p:txBody>
          <a:bodyPr wrap="square" lIns="0" tIns="0" rIns="0" bIns="0" rtlCol="0" anchor="ctr"/>
          <a:lstStyle/>
          <a:p>
            <a:pPr marL="0" indent="0">
              <a:buNone/>
            </a:pPr>
            <a:r>
              <a:rPr lang="en-US" sz="3000" b="1" dirty="0">
                <a:solidFill>
                  <a:srgbClr val="1565C0"/>
                </a:solidFill>
                <a:latin typeface="Calibri" pitchFamily="34" charset="0"/>
                <a:ea typeface="Calibri" pitchFamily="34" charset="-122"/>
                <a:cs typeface="Calibri" pitchFamily="34" charset="-120"/>
              </a:rPr>
              <a:t>4.56B</a:t>
            </a:r>
            <a:endParaRPr lang="en-US" sz="3000" dirty="0"/>
          </a:p>
        </p:txBody>
      </p:sp>
      <p:sp>
        <p:nvSpPr>
          <p:cNvPr id="8" name="Text 6">
            <a:extLst>
              <a:ext uri="{FF2B5EF4-FFF2-40B4-BE49-F238E27FC236}">
                <a16:creationId xmlns:a16="http://schemas.microsoft.com/office/drawing/2014/main" id="{A1DD92A3-02D6-B19E-C0D2-7302C1EE1D86}"/>
              </a:ext>
            </a:extLst>
          </p:cNvPr>
          <p:cNvSpPr txBox="1"/>
          <p:nvPr/>
        </p:nvSpPr>
        <p:spPr>
          <a:xfrm>
            <a:off x="3909060" y="1656988"/>
            <a:ext cx="2286000" cy="402336"/>
          </a:xfrm>
          <a:prstGeom prst="rect">
            <a:avLst/>
          </a:prstGeom>
          <a:noFill/>
          <a:ln/>
        </p:spPr>
        <p:txBody>
          <a:bodyPr wrap="square" lIns="0" tIns="0" rIns="0" bIns="0" rtlCol="0" anchor="t"/>
          <a:lstStyle/>
          <a:p>
            <a:r>
              <a:rPr lang="en-US" sz="1400" dirty="0"/>
              <a:t>Total loan amount </a:t>
            </a:r>
            <a:endParaRPr lang="en-US" sz="1300" dirty="0"/>
          </a:p>
        </p:txBody>
      </p:sp>
      <p:sp>
        <p:nvSpPr>
          <p:cNvPr id="9" name="Shape 7">
            <a:extLst>
              <a:ext uri="{FF2B5EF4-FFF2-40B4-BE49-F238E27FC236}">
                <a16:creationId xmlns:a16="http://schemas.microsoft.com/office/drawing/2014/main" id="{703095A4-A126-8A9C-F23B-AE2FD84A06A5}"/>
              </a:ext>
            </a:extLst>
          </p:cNvPr>
          <p:cNvSpPr/>
          <p:nvPr/>
        </p:nvSpPr>
        <p:spPr>
          <a:xfrm>
            <a:off x="6126480" y="1005840"/>
            <a:ext cx="2560320" cy="1005840"/>
          </a:xfrm>
          <a:prstGeom prst="roundRect">
            <a:avLst>
              <a:gd name="adj" fmla="val 7273"/>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10" name="Text 8">
            <a:extLst>
              <a:ext uri="{FF2B5EF4-FFF2-40B4-BE49-F238E27FC236}">
                <a16:creationId xmlns:a16="http://schemas.microsoft.com/office/drawing/2014/main" id="{2D72CC9F-FE7C-3873-02B7-69EAD7538A2E}"/>
              </a:ext>
            </a:extLst>
          </p:cNvPr>
          <p:cNvSpPr txBox="1"/>
          <p:nvPr/>
        </p:nvSpPr>
        <p:spPr>
          <a:xfrm>
            <a:off x="7008707" y="1109366"/>
            <a:ext cx="2286000" cy="452628"/>
          </a:xfrm>
          <a:prstGeom prst="rect">
            <a:avLst/>
          </a:prstGeom>
          <a:noFill/>
          <a:ln/>
        </p:spPr>
        <p:txBody>
          <a:bodyPr wrap="square" lIns="0" tIns="0" rIns="0" bIns="0" rtlCol="0" anchor="ctr"/>
          <a:lstStyle/>
          <a:p>
            <a:pPr marL="0" indent="0">
              <a:buNone/>
            </a:pPr>
            <a:r>
              <a:rPr lang="en-US" sz="3000" b="1" dirty="0">
                <a:solidFill>
                  <a:srgbClr val="F57C00"/>
                </a:solidFill>
                <a:latin typeface="Calibri" pitchFamily="34" charset="0"/>
                <a:ea typeface="Calibri" pitchFamily="34" charset="-122"/>
                <a:cs typeface="Calibri" pitchFamily="34" charset="-120"/>
              </a:rPr>
              <a:t>53%</a:t>
            </a:r>
            <a:endParaRPr lang="en-US" sz="3000" dirty="0"/>
          </a:p>
        </p:txBody>
      </p:sp>
      <p:sp>
        <p:nvSpPr>
          <p:cNvPr id="11" name="Text 9">
            <a:extLst>
              <a:ext uri="{FF2B5EF4-FFF2-40B4-BE49-F238E27FC236}">
                <a16:creationId xmlns:a16="http://schemas.microsoft.com/office/drawing/2014/main" id="{5E0AC800-6AC5-504A-A680-D10FACC359ED}"/>
              </a:ext>
            </a:extLst>
          </p:cNvPr>
          <p:cNvSpPr txBox="1"/>
          <p:nvPr/>
        </p:nvSpPr>
        <p:spPr>
          <a:xfrm>
            <a:off x="6798733" y="1543706"/>
            <a:ext cx="2286000" cy="402336"/>
          </a:xfrm>
          <a:prstGeom prst="rect">
            <a:avLst/>
          </a:prstGeom>
          <a:noFill/>
          <a:ln/>
        </p:spPr>
        <p:txBody>
          <a:bodyPr wrap="square" lIns="0" tIns="0" rIns="0" bIns="0" rtlCol="0" anchor="t"/>
          <a:lstStyle/>
          <a:p>
            <a:r>
              <a:rPr lang="en-US" sz="1400" dirty="0"/>
              <a:t>Approved rate </a:t>
            </a:r>
            <a:endParaRPr lang="en-US" sz="1300" dirty="0"/>
          </a:p>
        </p:txBody>
      </p:sp>
      <p:sp>
        <p:nvSpPr>
          <p:cNvPr id="13" name="Text 11">
            <a:extLst>
              <a:ext uri="{FF2B5EF4-FFF2-40B4-BE49-F238E27FC236}">
                <a16:creationId xmlns:a16="http://schemas.microsoft.com/office/drawing/2014/main" id="{96730C5D-D408-2D6D-7DD4-62690E6C1671}"/>
              </a:ext>
            </a:extLst>
          </p:cNvPr>
          <p:cNvSpPr txBox="1"/>
          <p:nvPr/>
        </p:nvSpPr>
        <p:spPr>
          <a:xfrm>
            <a:off x="457200" y="3596217"/>
            <a:ext cx="7765627" cy="704088"/>
          </a:xfrm>
          <a:prstGeom prst="rect">
            <a:avLst/>
          </a:prstGeom>
          <a:noFill/>
          <a:ln/>
        </p:spPr>
        <p:txBody>
          <a:bodyPr wrap="square" lIns="0" tIns="0" rIns="0" bIns="0" rtlCol="0" anchor="t"/>
          <a:lstStyle/>
          <a:p>
            <a:r>
              <a:rPr lang="en-US" sz="1400" dirty="0"/>
              <a:t>financial data: </a:t>
            </a:r>
            <a:r>
              <a:rPr lang="en-US" sz="1400" b="1" dirty="0"/>
              <a:t>12,000</a:t>
            </a:r>
            <a:r>
              <a:rPr lang="en-US" sz="1400" dirty="0"/>
              <a:t> </a:t>
            </a:r>
            <a:r>
              <a:rPr lang="en-US" sz="1400" b="1" dirty="0"/>
              <a:t>applications</a:t>
            </a:r>
            <a:r>
              <a:rPr lang="en-US" sz="1400" dirty="0"/>
              <a:t> from </a:t>
            </a:r>
            <a:r>
              <a:rPr lang="en-US" sz="1400" b="1" dirty="0"/>
              <a:t>1 Apr 2026 to 30 Sep 2026</a:t>
            </a:r>
            <a:r>
              <a:rPr lang="en-US" sz="1400" dirty="0"/>
              <a:t>, across </a:t>
            </a:r>
            <a:r>
              <a:rPr lang="en-US" sz="1400" b="1" dirty="0"/>
              <a:t>4 employment types, 7 loan purposes </a:t>
            </a:r>
            <a:r>
              <a:rPr lang="en-US" sz="1400" dirty="0"/>
              <a:t>and </a:t>
            </a:r>
            <a:r>
              <a:rPr lang="en-US" sz="1400" b="1" dirty="0"/>
              <a:t>2 genders</a:t>
            </a:r>
            <a:r>
              <a:rPr lang="en-US" sz="1400" dirty="0"/>
              <a:t>. Decision is the outcome to explain (“Approved” rate 53%). </a:t>
            </a:r>
          </a:p>
        </p:txBody>
      </p:sp>
      <p:sp>
        <p:nvSpPr>
          <p:cNvPr id="16" name="Text 14">
            <a:extLst>
              <a:ext uri="{FF2B5EF4-FFF2-40B4-BE49-F238E27FC236}">
                <a16:creationId xmlns:a16="http://schemas.microsoft.com/office/drawing/2014/main" id="{70214243-32AC-6F19-A6CC-A0B7FD243E26}"/>
              </a:ext>
            </a:extLst>
          </p:cNvPr>
          <p:cNvSpPr txBox="1"/>
          <p:nvPr/>
        </p:nvSpPr>
        <p:spPr>
          <a:xfrm>
            <a:off x="457200" y="4434840"/>
            <a:ext cx="8229600" cy="457200"/>
          </a:xfrm>
          <a:prstGeom prst="rect">
            <a:avLst/>
          </a:prstGeom>
          <a:noFill/>
          <a:ln/>
        </p:spPr>
        <p:txBody>
          <a:bodyPr wrap="square" lIns="0" tIns="0" rIns="0" bIns="0" rtlCol="0" anchor="t"/>
          <a:lstStyle/>
          <a:p>
            <a:pPr marL="0" indent="0">
              <a:buNone/>
            </a:pPr>
            <a:r>
              <a:rPr lang="en-US" sz="1200" dirty="0">
                <a:solidFill>
                  <a:srgbClr val="5F6B7A"/>
                </a:solidFill>
                <a:latin typeface="Calibri" pitchFamily="34" charset="0"/>
                <a:ea typeface="Calibri" pitchFamily="34" charset="-122"/>
                <a:cs typeface="Calibri" pitchFamily="34" charset="-120"/>
              </a:rPr>
              <a:t>Stakeholder: Credit Policy Analyst → Head of Retail Lending. Also affected: analysts, applicants, Compliance. The "decision" column records what analysts decided, not repayment.</a:t>
            </a:r>
            <a:endParaRPr lang="en-US" sz="1200" dirty="0"/>
          </a:p>
        </p:txBody>
      </p:sp>
      <p:sp>
        <p:nvSpPr>
          <p:cNvPr id="17" name="Shape 1">
            <a:extLst>
              <a:ext uri="{FF2B5EF4-FFF2-40B4-BE49-F238E27FC236}">
                <a16:creationId xmlns:a16="http://schemas.microsoft.com/office/drawing/2014/main" id="{B0857646-B4B9-9112-5AD7-D3EB8CB868E7}"/>
              </a:ext>
            </a:extLst>
          </p:cNvPr>
          <p:cNvSpPr/>
          <p:nvPr/>
        </p:nvSpPr>
        <p:spPr>
          <a:xfrm>
            <a:off x="472440" y="2267161"/>
            <a:ext cx="2560320" cy="1005840"/>
          </a:xfrm>
          <a:prstGeom prst="roundRect">
            <a:avLst>
              <a:gd name="adj" fmla="val 7273"/>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18" name="Text 2">
            <a:extLst>
              <a:ext uri="{FF2B5EF4-FFF2-40B4-BE49-F238E27FC236}">
                <a16:creationId xmlns:a16="http://schemas.microsoft.com/office/drawing/2014/main" id="{5C0E8124-8D5D-56E6-9890-C4A7BEFF0949}"/>
              </a:ext>
            </a:extLst>
          </p:cNvPr>
          <p:cNvSpPr txBox="1"/>
          <p:nvPr/>
        </p:nvSpPr>
        <p:spPr>
          <a:xfrm>
            <a:off x="1226820" y="2432451"/>
            <a:ext cx="2286000" cy="452628"/>
          </a:xfrm>
          <a:prstGeom prst="rect">
            <a:avLst/>
          </a:prstGeom>
          <a:noFill/>
          <a:ln/>
        </p:spPr>
        <p:txBody>
          <a:bodyPr wrap="square" lIns="0" tIns="0" rIns="0" bIns="0" rtlCol="0" anchor="ctr"/>
          <a:lstStyle/>
          <a:p>
            <a:pPr marL="0" indent="0">
              <a:buNone/>
            </a:pPr>
            <a:r>
              <a:rPr lang="en-US" sz="3000" b="1" dirty="0">
                <a:solidFill>
                  <a:srgbClr val="F57C00"/>
                </a:solidFill>
                <a:latin typeface="Calibri" pitchFamily="34" charset="0"/>
                <a:ea typeface="Calibri" pitchFamily="34" charset="-122"/>
                <a:cs typeface="Calibri" pitchFamily="34" charset="-120"/>
              </a:rPr>
              <a:t>47%</a:t>
            </a:r>
            <a:endParaRPr lang="en-US" sz="3000" dirty="0"/>
          </a:p>
        </p:txBody>
      </p:sp>
      <p:sp>
        <p:nvSpPr>
          <p:cNvPr id="19" name="Text 3">
            <a:extLst>
              <a:ext uri="{FF2B5EF4-FFF2-40B4-BE49-F238E27FC236}">
                <a16:creationId xmlns:a16="http://schemas.microsoft.com/office/drawing/2014/main" id="{3C41D514-A2BE-C68B-99A8-9636157520DF}"/>
              </a:ext>
            </a:extLst>
          </p:cNvPr>
          <p:cNvSpPr txBox="1"/>
          <p:nvPr/>
        </p:nvSpPr>
        <p:spPr>
          <a:xfrm>
            <a:off x="1066800" y="2834639"/>
            <a:ext cx="2286000" cy="402336"/>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Declined  rate</a:t>
            </a:r>
            <a:endParaRPr lang="en-US" sz="1300" dirty="0"/>
          </a:p>
        </p:txBody>
      </p:sp>
      <p:sp>
        <p:nvSpPr>
          <p:cNvPr id="21" name="Text 5">
            <a:extLst>
              <a:ext uri="{FF2B5EF4-FFF2-40B4-BE49-F238E27FC236}">
                <a16:creationId xmlns:a16="http://schemas.microsoft.com/office/drawing/2014/main" id="{6AD7AC8E-5470-9911-216B-8E3C9DA0F82B}"/>
              </a:ext>
            </a:extLst>
          </p:cNvPr>
          <p:cNvSpPr txBox="1"/>
          <p:nvPr/>
        </p:nvSpPr>
        <p:spPr>
          <a:xfrm>
            <a:off x="3771900" y="2543767"/>
            <a:ext cx="1649307" cy="452628"/>
          </a:xfrm>
          <a:prstGeom prst="rect">
            <a:avLst/>
          </a:prstGeom>
          <a:noFill/>
          <a:ln/>
        </p:spPr>
        <p:txBody>
          <a:bodyPr wrap="square" lIns="0" tIns="0" rIns="0" bIns="0" rtlCol="0" anchor="ctr"/>
          <a:lstStyle/>
          <a:p>
            <a:pPr marL="0" indent="0">
              <a:buNone/>
            </a:pPr>
            <a:r>
              <a:rPr lang="en-US" sz="3000" b="1" dirty="0">
                <a:solidFill>
                  <a:srgbClr val="1565C0"/>
                </a:solidFill>
                <a:latin typeface="Calibri" pitchFamily="34" charset="0"/>
                <a:ea typeface="Calibri" pitchFamily="34" charset="-122"/>
                <a:cs typeface="Calibri" pitchFamily="34" charset="-120"/>
              </a:rPr>
              <a:t>6 Months</a:t>
            </a:r>
            <a:endParaRPr lang="en-US" sz="3000" dirty="0"/>
          </a:p>
        </p:txBody>
      </p:sp>
      <p:sp>
        <p:nvSpPr>
          <p:cNvPr id="22" name="Shape 7">
            <a:extLst>
              <a:ext uri="{FF2B5EF4-FFF2-40B4-BE49-F238E27FC236}">
                <a16:creationId xmlns:a16="http://schemas.microsoft.com/office/drawing/2014/main" id="{767FF0F5-0595-757C-D4F2-9100A2267C69}"/>
              </a:ext>
            </a:extLst>
          </p:cNvPr>
          <p:cNvSpPr/>
          <p:nvPr/>
        </p:nvSpPr>
        <p:spPr>
          <a:xfrm>
            <a:off x="6111240" y="2291576"/>
            <a:ext cx="2560320" cy="1005840"/>
          </a:xfrm>
          <a:prstGeom prst="roundRect">
            <a:avLst>
              <a:gd name="adj" fmla="val 7273"/>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23" name="Text 8">
            <a:extLst>
              <a:ext uri="{FF2B5EF4-FFF2-40B4-BE49-F238E27FC236}">
                <a16:creationId xmlns:a16="http://schemas.microsoft.com/office/drawing/2014/main" id="{3B8A1694-371A-D2BA-5E8D-FDD3BCB31339}"/>
              </a:ext>
            </a:extLst>
          </p:cNvPr>
          <p:cNvSpPr txBox="1"/>
          <p:nvPr/>
        </p:nvSpPr>
        <p:spPr>
          <a:xfrm>
            <a:off x="6783493" y="2412416"/>
            <a:ext cx="2286000" cy="452628"/>
          </a:xfrm>
          <a:prstGeom prst="rect">
            <a:avLst/>
          </a:prstGeom>
          <a:noFill/>
          <a:ln/>
        </p:spPr>
        <p:txBody>
          <a:bodyPr wrap="square" lIns="0" tIns="0" rIns="0" bIns="0" rtlCol="0" anchor="ctr"/>
          <a:lstStyle/>
          <a:p>
            <a:pPr marL="0" indent="0">
              <a:buNone/>
            </a:pPr>
            <a:r>
              <a:rPr lang="en-US" sz="3000" b="1" dirty="0">
                <a:solidFill>
                  <a:srgbClr val="F57C00"/>
                </a:solidFill>
                <a:latin typeface="Calibri" pitchFamily="34" charset="0"/>
                <a:ea typeface="Calibri" pitchFamily="34" charset="-122"/>
                <a:cs typeface="Calibri" pitchFamily="34" charset="-120"/>
              </a:rPr>
              <a:t>60,315</a:t>
            </a:r>
            <a:endParaRPr lang="en-US" sz="3000" dirty="0"/>
          </a:p>
        </p:txBody>
      </p:sp>
      <p:sp>
        <p:nvSpPr>
          <p:cNvPr id="24" name="Text 9">
            <a:extLst>
              <a:ext uri="{FF2B5EF4-FFF2-40B4-BE49-F238E27FC236}">
                <a16:creationId xmlns:a16="http://schemas.microsoft.com/office/drawing/2014/main" id="{284A18B2-ED0F-CDF2-5215-F862C3FE7FC4}"/>
              </a:ext>
            </a:extLst>
          </p:cNvPr>
          <p:cNvSpPr txBox="1"/>
          <p:nvPr/>
        </p:nvSpPr>
        <p:spPr>
          <a:xfrm>
            <a:off x="6591300" y="2829442"/>
            <a:ext cx="2286000" cy="402336"/>
          </a:xfrm>
          <a:prstGeom prst="rect">
            <a:avLst/>
          </a:prstGeom>
          <a:noFill/>
          <a:ln/>
        </p:spPr>
        <p:txBody>
          <a:bodyPr wrap="square" lIns="0" tIns="0" rIns="0" bIns="0" rtlCol="0" anchor="t"/>
          <a:lstStyle/>
          <a:p>
            <a:r>
              <a:rPr lang="en-US" sz="1400" dirty="0"/>
              <a:t>Average monthly income</a:t>
            </a:r>
            <a:endParaRPr lang="en-US" sz="1300" dirty="0"/>
          </a:p>
        </p:txBody>
      </p:sp>
    </p:spTree>
    <p:extLst>
      <p:ext uri="{BB962C8B-B14F-4D97-AF65-F5344CB8AC3E}">
        <p14:creationId xmlns:p14="http://schemas.microsoft.com/office/powerpoint/2010/main" val="1411610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731520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The business problem</a:t>
            </a:r>
            <a:endParaRPr lang="en-US" sz="2800" dirty="0"/>
          </a:p>
        </p:txBody>
      </p:sp>
      <p:sp>
        <p:nvSpPr>
          <p:cNvPr id="3" name="Shape 1"/>
          <p:cNvSpPr/>
          <p:nvPr/>
        </p:nvSpPr>
        <p:spPr>
          <a:xfrm>
            <a:off x="457200" y="1005840"/>
            <a:ext cx="2560320" cy="1005840"/>
          </a:xfrm>
          <a:prstGeom prst="roundRect">
            <a:avLst>
              <a:gd name="adj" fmla="val 7273"/>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4" name="Text 2"/>
          <p:cNvSpPr txBox="1"/>
          <p:nvPr/>
        </p:nvSpPr>
        <p:spPr>
          <a:xfrm>
            <a:off x="594360" y="1097280"/>
            <a:ext cx="2286000" cy="452628"/>
          </a:xfrm>
          <a:prstGeom prst="rect">
            <a:avLst/>
          </a:prstGeom>
          <a:noFill/>
          <a:ln/>
        </p:spPr>
        <p:txBody>
          <a:bodyPr wrap="square" lIns="0" tIns="0" rIns="0" bIns="0" rtlCol="0" anchor="ctr"/>
          <a:lstStyle/>
          <a:p>
            <a:pPr marL="0" indent="0">
              <a:buNone/>
            </a:pPr>
            <a:r>
              <a:rPr lang="en-US" sz="3000" b="1" dirty="0">
                <a:solidFill>
                  <a:srgbClr val="F57C00"/>
                </a:solidFill>
                <a:latin typeface="Calibri" pitchFamily="34" charset="0"/>
                <a:ea typeface="Calibri" pitchFamily="34" charset="-122"/>
                <a:cs typeface="Calibri" pitchFamily="34" charset="-120"/>
              </a:rPr>
              <a:t>3,000</a:t>
            </a:r>
            <a:endParaRPr lang="en-US" sz="3000" dirty="0"/>
          </a:p>
        </p:txBody>
      </p:sp>
      <p:sp>
        <p:nvSpPr>
          <p:cNvPr id="5" name="Text 3"/>
          <p:cNvSpPr txBox="1"/>
          <p:nvPr/>
        </p:nvSpPr>
        <p:spPr>
          <a:xfrm>
            <a:off x="594360" y="1559052"/>
            <a:ext cx="2286000" cy="402336"/>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applications a month</a:t>
            </a:r>
            <a:endParaRPr lang="en-US" sz="1300" dirty="0"/>
          </a:p>
        </p:txBody>
      </p:sp>
      <p:sp>
        <p:nvSpPr>
          <p:cNvPr id="6" name="Shape 4"/>
          <p:cNvSpPr/>
          <p:nvPr/>
        </p:nvSpPr>
        <p:spPr>
          <a:xfrm>
            <a:off x="3291840" y="1005840"/>
            <a:ext cx="2560320" cy="1005840"/>
          </a:xfrm>
          <a:prstGeom prst="roundRect">
            <a:avLst>
              <a:gd name="adj" fmla="val 7273"/>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7" name="Text 5"/>
          <p:cNvSpPr txBox="1"/>
          <p:nvPr/>
        </p:nvSpPr>
        <p:spPr>
          <a:xfrm>
            <a:off x="3429000" y="1097280"/>
            <a:ext cx="2286000" cy="452628"/>
          </a:xfrm>
          <a:prstGeom prst="rect">
            <a:avLst/>
          </a:prstGeom>
          <a:noFill/>
          <a:ln/>
        </p:spPr>
        <p:txBody>
          <a:bodyPr wrap="square" lIns="0" tIns="0" rIns="0" bIns="0" rtlCol="0" anchor="ctr"/>
          <a:lstStyle/>
          <a:p>
            <a:pPr marL="0" indent="0">
              <a:buNone/>
            </a:pPr>
            <a:r>
              <a:rPr lang="en-US" sz="3000" b="1" dirty="0">
                <a:solidFill>
                  <a:srgbClr val="1565C0"/>
                </a:solidFill>
                <a:latin typeface="Calibri" pitchFamily="34" charset="0"/>
                <a:ea typeface="Calibri" pitchFamily="34" charset="-122"/>
                <a:cs typeface="Calibri" pitchFamily="34" charset="-120"/>
              </a:rPr>
              <a:t>25 min</a:t>
            </a:r>
            <a:endParaRPr lang="en-US" sz="3000" dirty="0"/>
          </a:p>
        </p:txBody>
      </p:sp>
      <p:sp>
        <p:nvSpPr>
          <p:cNvPr id="8" name="Text 6"/>
          <p:cNvSpPr txBox="1"/>
          <p:nvPr/>
        </p:nvSpPr>
        <p:spPr>
          <a:xfrm>
            <a:off x="3429000" y="1559052"/>
            <a:ext cx="2286000" cy="402336"/>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manual review each = 1,250 hrs</a:t>
            </a:r>
            <a:endParaRPr lang="en-US" sz="1300" dirty="0"/>
          </a:p>
        </p:txBody>
      </p:sp>
      <p:sp>
        <p:nvSpPr>
          <p:cNvPr id="9" name="Shape 7"/>
          <p:cNvSpPr/>
          <p:nvPr/>
        </p:nvSpPr>
        <p:spPr>
          <a:xfrm>
            <a:off x="6126480" y="1005840"/>
            <a:ext cx="2560320" cy="1005840"/>
          </a:xfrm>
          <a:prstGeom prst="roundRect">
            <a:avLst>
              <a:gd name="adj" fmla="val 7273"/>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10" name="Text 8"/>
          <p:cNvSpPr txBox="1"/>
          <p:nvPr/>
        </p:nvSpPr>
        <p:spPr>
          <a:xfrm>
            <a:off x="6263640" y="1097280"/>
            <a:ext cx="2286000" cy="452628"/>
          </a:xfrm>
          <a:prstGeom prst="rect">
            <a:avLst/>
          </a:prstGeom>
          <a:noFill/>
          <a:ln/>
        </p:spPr>
        <p:txBody>
          <a:bodyPr wrap="square" lIns="0" tIns="0" rIns="0" bIns="0" rtlCol="0" anchor="ctr"/>
          <a:lstStyle/>
          <a:p>
            <a:pPr marL="0" indent="0">
              <a:buNone/>
            </a:pPr>
            <a:r>
              <a:rPr lang="en-US" sz="3000" b="1" dirty="0">
                <a:solidFill>
                  <a:srgbClr val="F57C00"/>
                </a:solidFill>
                <a:latin typeface="Calibri" pitchFamily="34" charset="0"/>
                <a:ea typeface="Calibri" pitchFamily="34" charset="-122"/>
                <a:cs typeface="Calibri" pitchFamily="34" charset="-120"/>
              </a:rPr>
              <a:t>~47%</a:t>
            </a:r>
            <a:endParaRPr lang="en-US" sz="3000" dirty="0"/>
          </a:p>
        </p:txBody>
      </p:sp>
      <p:sp>
        <p:nvSpPr>
          <p:cNvPr id="11" name="Text 9"/>
          <p:cNvSpPr txBox="1"/>
          <p:nvPr/>
        </p:nvSpPr>
        <p:spPr>
          <a:xfrm>
            <a:off x="6263640" y="1559052"/>
            <a:ext cx="2286000" cy="402336"/>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end in a decline, many obvious in a minute</a:t>
            </a:r>
            <a:endParaRPr lang="en-US" sz="1300" dirty="0"/>
          </a:p>
        </p:txBody>
      </p:sp>
      <p:sp>
        <p:nvSpPr>
          <p:cNvPr id="12" name="Text 10"/>
          <p:cNvSpPr txBox="1"/>
          <p:nvPr/>
        </p:nvSpPr>
        <p:spPr>
          <a:xfrm>
            <a:off x="457200" y="2286000"/>
            <a:ext cx="3931920" cy="274320"/>
          </a:xfrm>
          <a:prstGeom prst="rect">
            <a:avLst/>
          </a:prstGeom>
          <a:noFill/>
          <a:ln/>
        </p:spPr>
        <p:txBody>
          <a:bodyPr wrap="square" lIns="0" tIns="0" rIns="0" bIns="0" rtlCol="0" anchor="t"/>
          <a:lstStyle/>
          <a:p>
            <a:pPr marL="0" indent="0">
              <a:buNone/>
            </a:pPr>
            <a:r>
              <a:rPr lang="en-US" sz="1600" b="1" dirty="0">
                <a:solidFill>
                  <a:srgbClr val="1565C0"/>
                </a:solidFill>
                <a:latin typeface="Calibri" pitchFamily="34" charset="0"/>
                <a:ea typeface="Calibri" pitchFamily="34" charset="-122"/>
                <a:cs typeface="Calibri" pitchFamily="34" charset="-120"/>
              </a:rPr>
              <a:t>Question</a:t>
            </a:r>
            <a:endParaRPr lang="en-US" sz="1600" dirty="0"/>
          </a:p>
        </p:txBody>
      </p:sp>
      <p:sp>
        <p:nvSpPr>
          <p:cNvPr id="13" name="Text 11"/>
          <p:cNvSpPr txBox="1"/>
          <p:nvPr/>
        </p:nvSpPr>
        <p:spPr>
          <a:xfrm>
            <a:off x="457200" y="2606040"/>
            <a:ext cx="3931920" cy="1280160"/>
          </a:xfrm>
          <a:prstGeom prst="rect">
            <a:avLst/>
          </a:prstGeom>
          <a:noFill/>
          <a:ln/>
        </p:spPr>
        <p:txBody>
          <a:bodyPr wrap="square" lIns="0" tIns="0" rIns="0" bIns="0" rtlCol="0" anchor="t"/>
          <a:lstStyle/>
          <a:p>
            <a:pPr marL="0" indent="0">
              <a:buNone/>
            </a:pPr>
            <a:r>
              <a:rPr lang="en-US" sz="1400" dirty="0">
                <a:solidFill>
                  <a:srgbClr val="111111"/>
                </a:solidFill>
                <a:latin typeface="Calibri" pitchFamily="34" charset="0"/>
                <a:ea typeface="Calibri" pitchFamily="34" charset="-122"/>
                <a:cs typeface="Calibri" pitchFamily="34" charset="-120"/>
              </a:rPr>
              <a:t>Using six months of history (12,000 applications, Apr–Sep 2026), which applications can skip full manual review, and which model and thresholds should the bank adopt?</a:t>
            </a:r>
            <a:endParaRPr lang="en-US" sz="1400" dirty="0"/>
          </a:p>
        </p:txBody>
      </p:sp>
      <p:sp>
        <p:nvSpPr>
          <p:cNvPr id="14" name="Text 12"/>
          <p:cNvSpPr txBox="1"/>
          <p:nvPr/>
        </p:nvSpPr>
        <p:spPr>
          <a:xfrm>
            <a:off x="4754880" y="2286000"/>
            <a:ext cx="3931920" cy="274320"/>
          </a:xfrm>
          <a:prstGeom prst="rect">
            <a:avLst/>
          </a:prstGeom>
          <a:noFill/>
          <a:ln/>
        </p:spPr>
        <p:txBody>
          <a:bodyPr wrap="square" lIns="0" tIns="0" rIns="0" bIns="0" rtlCol="0" anchor="t"/>
          <a:lstStyle/>
          <a:p>
            <a:pPr marL="0" indent="0">
              <a:buNone/>
            </a:pPr>
            <a:r>
              <a:rPr lang="en-US" sz="1600" b="1" dirty="0">
                <a:solidFill>
                  <a:srgbClr val="F57C00"/>
                </a:solidFill>
                <a:latin typeface="Calibri" pitchFamily="34" charset="0"/>
                <a:ea typeface="Calibri" pitchFamily="34" charset="-122"/>
                <a:cs typeface="Calibri" pitchFamily="34" charset="-120"/>
              </a:rPr>
              <a:t>Success definition</a:t>
            </a:r>
            <a:endParaRPr lang="en-US" sz="1600" dirty="0"/>
          </a:p>
        </p:txBody>
      </p:sp>
      <p:sp>
        <p:nvSpPr>
          <p:cNvPr id="15" name="Text 13"/>
          <p:cNvSpPr txBox="1"/>
          <p:nvPr/>
        </p:nvSpPr>
        <p:spPr>
          <a:xfrm>
            <a:off x="4754880" y="2606040"/>
            <a:ext cx="3931920" cy="17373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11111"/>
                </a:solidFill>
                <a:latin typeface="Calibri" pitchFamily="34" charset="0"/>
                <a:ea typeface="Calibri" pitchFamily="34" charset="-122"/>
                <a:cs typeface="Calibri" pitchFamily="34" charset="-120"/>
              </a:rPr>
              <a:t>Max 5% of auto-declines were approved by the team</a:t>
            </a:r>
            <a:endParaRPr lang="en-US" sz="1300" dirty="0"/>
          </a:p>
          <a:p>
            <a:pPr marL="342900" indent="-342900">
              <a:spcAft>
                <a:spcPts val="400"/>
              </a:spcAft>
              <a:buSzPct val="100000"/>
              <a:buChar char="•"/>
            </a:pPr>
            <a:r>
              <a:rPr lang="en-US" sz="1300" dirty="0">
                <a:solidFill>
                  <a:srgbClr val="111111"/>
                </a:solidFill>
                <a:latin typeface="Calibri" pitchFamily="34" charset="0"/>
                <a:ea typeface="Calibri" pitchFamily="34" charset="-122"/>
                <a:cs typeface="Calibri" pitchFamily="34" charset="-120"/>
              </a:rPr>
              <a:t>Max 5% of fast-tracks were declined by the team</a:t>
            </a:r>
            <a:endParaRPr lang="en-US" sz="1300" dirty="0"/>
          </a:p>
          <a:p>
            <a:pPr marL="342900" indent="-342900">
              <a:spcAft>
                <a:spcPts val="400"/>
              </a:spcAft>
              <a:buSzPct val="100000"/>
              <a:buChar char="•"/>
            </a:pPr>
            <a:r>
              <a:rPr lang="en-US" sz="1300" dirty="0">
                <a:solidFill>
                  <a:srgbClr val="111111"/>
                </a:solidFill>
                <a:latin typeface="Calibri" pitchFamily="34" charset="0"/>
                <a:ea typeface="Calibri" pitchFamily="34" charset="-122"/>
                <a:cs typeface="Calibri" pitchFamily="34" charset="-120"/>
              </a:rPr>
              <a:t>Then maximise the share leaving the manual queue</a:t>
            </a:r>
            <a:endParaRPr lang="en-US" sz="1300" dirty="0"/>
          </a:p>
          <a:p>
            <a:pPr marL="342900" indent="-342900">
              <a:spcAft>
                <a:spcPts val="400"/>
              </a:spcAft>
              <a:buSzPct val="100000"/>
              <a:buChar char="•"/>
            </a:pPr>
            <a:r>
              <a:rPr lang="en-US" sz="1300" dirty="0">
                <a:solidFill>
                  <a:srgbClr val="111111"/>
                </a:solidFill>
                <a:latin typeface="Calibri" pitchFamily="34" charset="0"/>
                <a:ea typeface="Calibri" pitchFamily="34" charset="-122"/>
                <a:cs typeface="Calibri" pitchFamily="34" charset="-120"/>
              </a:rPr>
              <a:t>Accuracy is not the success metric</a:t>
            </a:r>
            <a:endParaRPr lang="en-US" sz="1300" dirty="0"/>
          </a:p>
        </p:txBody>
      </p:sp>
      <p:sp>
        <p:nvSpPr>
          <p:cNvPr id="16" name="Text 14"/>
          <p:cNvSpPr txBox="1"/>
          <p:nvPr/>
        </p:nvSpPr>
        <p:spPr>
          <a:xfrm>
            <a:off x="457200" y="4434840"/>
            <a:ext cx="8229600" cy="457200"/>
          </a:xfrm>
          <a:prstGeom prst="rect">
            <a:avLst/>
          </a:prstGeom>
          <a:noFill/>
          <a:ln/>
        </p:spPr>
        <p:txBody>
          <a:bodyPr wrap="square" lIns="0" tIns="0" rIns="0" bIns="0" rtlCol="0" anchor="t"/>
          <a:lstStyle/>
          <a:p>
            <a:pPr marL="0" indent="0">
              <a:buNone/>
            </a:pPr>
            <a:r>
              <a:rPr lang="en-US" sz="1200" dirty="0">
                <a:solidFill>
                  <a:srgbClr val="5F6B7A"/>
                </a:solidFill>
                <a:latin typeface="Calibri" pitchFamily="34" charset="0"/>
                <a:ea typeface="Calibri" pitchFamily="34" charset="-122"/>
                <a:cs typeface="Calibri" pitchFamily="34" charset="-120"/>
              </a:rPr>
              <a:t>Stakeholder: Credit Policy Analyst → Head of Retail Lending. Also affected: analysts, applicants, Compliance. The "decision" column records what analysts decided, not repayment.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6035040" y="822960"/>
            <a:ext cx="2926080" cy="2926080"/>
          </a:xfrm>
          <a:prstGeom prst="ellipse">
            <a:avLst/>
          </a:prstGeom>
          <a:solidFill>
            <a:srgbClr val="F57C00"/>
          </a:solidFill>
          <a:ln w="12700">
            <a:solidFill>
              <a:srgbClr val="F57C00"/>
            </a:solidFill>
            <a:prstDash val="solid"/>
          </a:ln>
        </p:spPr>
      </p:sp>
      <p:sp>
        <p:nvSpPr>
          <p:cNvPr id="3" name="Text 1"/>
          <p:cNvSpPr txBox="1"/>
          <p:nvPr/>
        </p:nvSpPr>
        <p:spPr>
          <a:xfrm>
            <a:off x="6035040" y="822960"/>
            <a:ext cx="2926080" cy="2926080"/>
          </a:xfrm>
          <a:prstGeom prst="rect">
            <a:avLst/>
          </a:prstGeom>
          <a:noFill/>
          <a:ln/>
          <a:effectLst>
            <a:outerShdw blurRad="76200" dir="13500000" sy="23000" kx="1200000" algn="br" rotWithShape="0">
              <a:prstClr val="black">
                <a:alpha val="20000"/>
              </a:prstClr>
            </a:outerShdw>
          </a:effectLst>
        </p:spPr>
        <p:txBody>
          <a:bodyPr wrap="square" lIns="0" tIns="0" rIns="0" bIns="0" rtlCol="0" anchor="ctr"/>
          <a:lstStyle/>
          <a:p>
            <a:pPr marL="0" indent="0" algn="ctr">
              <a:buNone/>
            </a:pPr>
            <a:r>
              <a:rPr lang="en-US" sz="11000" b="1" dirty="0">
                <a:solidFill>
                  <a:srgbClr val="FFFFFF"/>
                </a:solidFill>
                <a:latin typeface="Calibri" pitchFamily="34" charset="0"/>
                <a:ea typeface="Calibri" pitchFamily="34" charset="-122"/>
                <a:cs typeface="Calibri" pitchFamily="34" charset="-120"/>
              </a:rPr>
              <a:t>1</a:t>
            </a:r>
            <a:endParaRPr lang="en-US" sz="11000" dirty="0"/>
          </a:p>
        </p:txBody>
      </p:sp>
      <p:sp>
        <p:nvSpPr>
          <p:cNvPr id="4" name="Text 2"/>
          <p:cNvSpPr txBox="1"/>
          <p:nvPr/>
        </p:nvSpPr>
        <p:spPr>
          <a:xfrm>
            <a:off x="548640" y="1280160"/>
            <a:ext cx="4572000" cy="365760"/>
          </a:xfrm>
          <a:prstGeom prst="rect">
            <a:avLst/>
          </a:prstGeom>
          <a:noFill/>
          <a:ln/>
        </p:spPr>
        <p:txBody>
          <a:bodyPr wrap="square" lIns="0" tIns="0" rIns="0" bIns="0" rtlCol="0" anchor="t"/>
          <a:lstStyle/>
          <a:p>
            <a:pPr marL="0" indent="0">
              <a:buNone/>
            </a:pPr>
            <a:r>
              <a:rPr lang="en-US" sz="1600" b="1" dirty="0">
                <a:solidFill>
                  <a:srgbClr val="F57C00"/>
                </a:solidFill>
                <a:latin typeface="Calibri" pitchFamily="34" charset="0"/>
                <a:ea typeface="Calibri" pitchFamily="34" charset="-122"/>
                <a:cs typeface="Calibri" pitchFamily="34" charset="-120"/>
              </a:rPr>
              <a:t>PART 1</a:t>
            </a:r>
            <a:endParaRPr lang="en-US" sz="1600" dirty="0"/>
          </a:p>
        </p:txBody>
      </p:sp>
      <p:sp>
        <p:nvSpPr>
          <p:cNvPr id="5" name="Text 3"/>
          <p:cNvSpPr txBox="1"/>
          <p:nvPr/>
        </p:nvSpPr>
        <p:spPr>
          <a:xfrm>
            <a:off x="548640" y="1737360"/>
            <a:ext cx="5120640" cy="109728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Baseline Pre-Screener</a:t>
            </a:r>
            <a:endParaRPr lang="en-US" sz="3400" dirty="0"/>
          </a:p>
        </p:txBody>
      </p:sp>
      <p:sp>
        <p:nvSpPr>
          <p:cNvPr id="6" name="Text 4"/>
          <p:cNvSpPr txBox="1"/>
          <p:nvPr/>
        </p:nvSpPr>
        <p:spPr>
          <a:xfrm>
            <a:off x="548640" y="3017520"/>
            <a:ext cx="5120640" cy="731520"/>
          </a:xfrm>
          <a:prstGeom prst="rect">
            <a:avLst/>
          </a:prstGeom>
          <a:noFill/>
          <a:ln/>
        </p:spPr>
        <p:txBody>
          <a:bodyPr wrap="square" lIns="0" tIns="0" rIns="0" bIns="0" rtlCol="0" anchor="t"/>
          <a:lstStyle/>
          <a:p>
            <a:pPr marL="0" indent="0">
              <a:buNone/>
            </a:pPr>
            <a:r>
              <a:rPr lang="en-US" sz="1500" dirty="0">
                <a:solidFill>
                  <a:srgbClr val="D0D5DB"/>
                </a:solidFill>
                <a:latin typeface="Calibri" pitchFamily="34" charset="0"/>
                <a:ea typeface="Calibri" pitchFamily="34" charset="-122"/>
                <a:cs typeface="Calibri" pitchFamily="34" charset="-120"/>
              </a:rPr>
              <a:t>Steps 5.1–5.7: clean the data, find what drives approval, build logistic regression, set a safe auto-decline threshold, check fairness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Three cleaning decisions</a:t>
            </a:r>
            <a:endParaRPr lang="en-US" sz="2800" dirty="0"/>
          </a:p>
        </p:txBody>
      </p:sp>
      <p:sp>
        <p:nvSpPr>
          <p:cNvPr id="3" name="Shape 1"/>
          <p:cNvSpPr/>
          <p:nvPr/>
        </p:nvSpPr>
        <p:spPr>
          <a:xfrm>
            <a:off x="7315200" y="347472"/>
            <a:ext cx="1371600" cy="329184"/>
          </a:xfrm>
          <a:prstGeom prst="roundRect">
            <a:avLst>
              <a:gd name="adj" fmla="val 27778"/>
            </a:avLst>
          </a:prstGeom>
          <a:solidFill>
            <a:srgbClr val="F57C00"/>
          </a:solidFill>
          <a:ln w="12700">
            <a:solidFill>
              <a:srgbClr val="F57C0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 1</a:t>
            </a:r>
            <a:endParaRPr lang="en-US" sz="1200" dirty="0"/>
          </a:p>
        </p:txBody>
      </p:sp>
      <p:sp>
        <p:nvSpPr>
          <p:cNvPr id="5" name="Shape 3"/>
          <p:cNvSpPr/>
          <p:nvPr/>
        </p:nvSpPr>
        <p:spPr>
          <a:xfrm>
            <a:off x="457200" y="1097280"/>
            <a:ext cx="2651760" cy="1097280"/>
          </a:xfrm>
          <a:prstGeom prst="roundRect">
            <a:avLst>
              <a:gd name="adj" fmla="val 6667"/>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6" name="Text 4"/>
          <p:cNvSpPr txBox="1"/>
          <p:nvPr/>
        </p:nvSpPr>
        <p:spPr>
          <a:xfrm>
            <a:off x="594360" y="1188720"/>
            <a:ext cx="2377440" cy="493776"/>
          </a:xfrm>
          <a:prstGeom prst="rect">
            <a:avLst/>
          </a:prstGeom>
          <a:noFill/>
          <a:ln/>
        </p:spPr>
        <p:txBody>
          <a:bodyPr wrap="square" lIns="0" tIns="0" rIns="0" bIns="0" rtlCol="0" anchor="ctr"/>
          <a:lstStyle/>
          <a:p>
            <a:pPr marL="0" indent="0">
              <a:buNone/>
            </a:pPr>
            <a:r>
              <a:rPr lang="en-US" sz="3000" b="1" dirty="0">
                <a:solidFill>
                  <a:srgbClr val="F57C00"/>
                </a:solidFill>
                <a:latin typeface="Calibri" pitchFamily="34" charset="0"/>
                <a:ea typeface="Calibri" pitchFamily="34" charset="-122"/>
                <a:cs typeface="Calibri" pitchFamily="34" charset="-120"/>
              </a:rPr>
              <a:t>441 rows</a:t>
            </a:r>
            <a:endParaRPr lang="en-US" sz="3000" dirty="0"/>
          </a:p>
        </p:txBody>
      </p:sp>
      <p:sp>
        <p:nvSpPr>
          <p:cNvPr id="7" name="Text 5"/>
          <p:cNvSpPr txBox="1"/>
          <p:nvPr/>
        </p:nvSpPr>
        <p:spPr>
          <a:xfrm>
            <a:off x="594360" y="1700784"/>
            <a:ext cx="2377440" cy="438912"/>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missing monthly_income (3.7%)</a:t>
            </a:r>
            <a:endParaRPr lang="en-US" sz="1300" dirty="0"/>
          </a:p>
        </p:txBody>
      </p:sp>
      <p:sp>
        <p:nvSpPr>
          <p:cNvPr id="8" name="Shape 6"/>
          <p:cNvSpPr/>
          <p:nvPr/>
        </p:nvSpPr>
        <p:spPr>
          <a:xfrm>
            <a:off x="3246120" y="1097280"/>
            <a:ext cx="2651760" cy="1097280"/>
          </a:xfrm>
          <a:prstGeom prst="roundRect">
            <a:avLst>
              <a:gd name="adj" fmla="val 6667"/>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9" name="Text 7"/>
          <p:cNvSpPr txBox="1"/>
          <p:nvPr/>
        </p:nvSpPr>
        <p:spPr>
          <a:xfrm>
            <a:off x="3383280" y="1188720"/>
            <a:ext cx="2377440" cy="493776"/>
          </a:xfrm>
          <a:prstGeom prst="rect">
            <a:avLst/>
          </a:prstGeom>
          <a:noFill/>
          <a:ln/>
        </p:spPr>
        <p:txBody>
          <a:bodyPr wrap="square" lIns="0" tIns="0" rIns="0" bIns="0" rtlCol="0" anchor="ctr"/>
          <a:lstStyle/>
          <a:p>
            <a:pPr marL="0" indent="0">
              <a:buNone/>
            </a:pPr>
            <a:r>
              <a:rPr lang="en-US" sz="3000" b="1" dirty="0">
                <a:solidFill>
                  <a:srgbClr val="1565C0"/>
                </a:solidFill>
                <a:latin typeface="Calibri" pitchFamily="34" charset="0"/>
                <a:ea typeface="Calibri" pitchFamily="34" charset="-122"/>
                <a:cs typeface="Calibri" pitchFamily="34" charset="-120"/>
              </a:rPr>
              <a:t>1,039 rows</a:t>
            </a:r>
            <a:endParaRPr lang="en-US" sz="3000" dirty="0"/>
          </a:p>
        </p:txBody>
      </p:sp>
      <p:sp>
        <p:nvSpPr>
          <p:cNvPr id="10" name="Text 8"/>
          <p:cNvSpPr txBox="1"/>
          <p:nvPr/>
        </p:nvSpPr>
        <p:spPr>
          <a:xfrm>
            <a:off x="3383280" y="1700784"/>
            <a:ext cx="2377440" cy="438912"/>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blank credit_score (8.7%)</a:t>
            </a:r>
            <a:endParaRPr lang="en-US" sz="1300" dirty="0"/>
          </a:p>
        </p:txBody>
      </p:sp>
      <p:sp>
        <p:nvSpPr>
          <p:cNvPr id="11" name="Shape 9"/>
          <p:cNvSpPr/>
          <p:nvPr/>
        </p:nvSpPr>
        <p:spPr>
          <a:xfrm>
            <a:off x="6035040" y="1097280"/>
            <a:ext cx="2651760" cy="1097280"/>
          </a:xfrm>
          <a:prstGeom prst="roundRect">
            <a:avLst>
              <a:gd name="adj" fmla="val 6667"/>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12" name="Text 10"/>
          <p:cNvSpPr txBox="1"/>
          <p:nvPr/>
        </p:nvSpPr>
        <p:spPr>
          <a:xfrm>
            <a:off x="6172200" y="1188720"/>
            <a:ext cx="2377440" cy="493776"/>
          </a:xfrm>
          <a:prstGeom prst="rect">
            <a:avLst/>
          </a:prstGeom>
          <a:noFill/>
          <a:ln/>
        </p:spPr>
        <p:txBody>
          <a:bodyPr wrap="square" lIns="0" tIns="0" rIns="0" bIns="0" rtlCol="0" anchor="ctr"/>
          <a:lstStyle/>
          <a:p>
            <a:pPr marL="0" indent="0">
              <a:buNone/>
            </a:pPr>
            <a:r>
              <a:rPr lang="en-US" sz="3000" b="1" dirty="0">
                <a:solidFill>
                  <a:srgbClr val="F57C00"/>
                </a:solidFill>
                <a:latin typeface="Calibri" pitchFamily="34" charset="0"/>
                <a:ea typeface="Calibri" pitchFamily="34" charset="-122"/>
                <a:cs typeface="Calibri" pitchFamily="34" charset="-120"/>
              </a:rPr>
              <a:t>20 rows</a:t>
            </a:r>
            <a:endParaRPr lang="en-US" sz="3000" dirty="0"/>
          </a:p>
        </p:txBody>
      </p:sp>
      <p:sp>
        <p:nvSpPr>
          <p:cNvPr id="13" name="Text 11"/>
          <p:cNvSpPr txBox="1"/>
          <p:nvPr/>
        </p:nvSpPr>
        <p:spPr>
          <a:xfrm>
            <a:off x="6172200" y="1700784"/>
            <a:ext cx="2377440" cy="438912"/>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income above 350,000</a:t>
            </a:r>
            <a:endParaRPr lang="en-US" sz="1300" dirty="0"/>
          </a:p>
        </p:txBody>
      </p:sp>
      <p:sp>
        <p:nvSpPr>
          <p:cNvPr id="14" name="Text 12"/>
          <p:cNvSpPr txBox="1"/>
          <p:nvPr/>
        </p:nvSpPr>
        <p:spPr>
          <a:xfrm>
            <a:off x="457200" y="2423160"/>
            <a:ext cx="2651760" cy="731520"/>
          </a:xfrm>
          <a:prstGeom prst="rect">
            <a:avLst/>
          </a:prstGeom>
          <a:noFill/>
          <a:ln/>
        </p:spPr>
        <p:txBody>
          <a:bodyPr wrap="square" lIns="0" tIns="0" rIns="0" bIns="0" rtlCol="0" anchor="t"/>
          <a:lstStyle/>
          <a:p>
            <a:pPr marL="0" indent="0">
              <a:buNone/>
            </a:pPr>
            <a:r>
              <a:rPr lang="en-US" sz="1400" b="1" dirty="0">
                <a:solidFill>
                  <a:srgbClr val="111111"/>
                </a:solidFill>
                <a:latin typeface="Calibri" pitchFamily="34" charset="0"/>
                <a:ea typeface="Calibri" pitchFamily="34" charset="-122"/>
                <a:cs typeface="Calibri" pitchFamily="34" charset="-120"/>
              </a:rPr>
              <a:t>Fill with the median income of the same employment type</a:t>
            </a:r>
            <a:endParaRPr lang="en-US" sz="1400" dirty="0"/>
          </a:p>
        </p:txBody>
      </p:sp>
      <p:sp>
        <p:nvSpPr>
          <p:cNvPr id="15" name="Text 13"/>
          <p:cNvSpPr txBox="1"/>
          <p:nvPr/>
        </p:nvSpPr>
        <p:spPr>
          <a:xfrm>
            <a:off x="457200" y="3200400"/>
            <a:ext cx="2651760" cy="1371600"/>
          </a:xfrm>
          <a:prstGeom prst="rect">
            <a:avLst/>
          </a:prstGeom>
          <a:noFill/>
          <a:ln/>
        </p:spPr>
        <p:txBody>
          <a:bodyPr wrap="square" lIns="0" tIns="0" rIns="0" bIns="0" rtlCol="0" anchor="t"/>
          <a:lstStyle/>
          <a:p>
            <a:pPr marL="0" indent="0">
              <a:buNone/>
            </a:pPr>
            <a:r>
              <a:rPr lang="en-US" sz="1300" dirty="0">
                <a:solidFill>
                  <a:srgbClr val="5F6B7A"/>
                </a:solidFill>
                <a:latin typeface="Calibri" pitchFamily="34" charset="0"/>
                <a:ea typeface="Calibri" pitchFamily="34" charset="-122"/>
                <a:cs typeface="Calibri" pitchFamily="34" charset="-120"/>
              </a:rPr>
              <a:t>86% of blanks are Business Owners and Self-Employed, so one overall median would understate them.</a:t>
            </a:r>
            <a:endParaRPr lang="en-US" sz="1300" dirty="0"/>
          </a:p>
        </p:txBody>
      </p:sp>
      <p:sp>
        <p:nvSpPr>
          <p:cNvPr id="16" name="Text 14"/>
          <p:cNvSpPr txBox="1"/>
          <p:nvPr/>
        </p:nvSpPr>
        <p:spPr>
          <a:xfrm>
            <a:off x="3246120" y="2423160"/>
            <a:ext cx="2651760" cy="731520"/>
          </a:xfrm>
          <a:prstGeom prst="rect">
            <a:avLst/>
          </a:prstGeom>
          <a:noFill/>
          <a:ln/>
        </p:spPr>
        <p:txBody>
          <a:bodyPr wrap="square" lIns="0" tIns="0" rIns="0" bIns="0" rtlCol="0" anchor="t"/>
          <a:lstStyle/>
          <a:p>
            <a:pPr marL="0" indent="0">
              <a:buNone/>
            </a:pPr>
            <a:r>
              <a:rPr lang="en-US" sz="1400" b="1" dirty="0">
                <a:solidFill>
                  <a:srgbClr val="111111"/>
                </a:solidFill>
                <a:latin typeface="Calibri" pitchFamily="34" charset="0"/>
                <a:ea typeface="Calibri" pitchFamily="34" charset="-122"/>
                <a:cs typeface="Calibri" pitchFamily="34" charset="-120"/>
              </a:rPr>
              <a:t>Keep and flag as is_ntc (new to credit)</a:t>
            </a:r>
            <a:endParaRPr lang="en-US" sz="1400" dirty="0"/>
          </a:p>
        </p:txBody>
      </p:sp>
      <p:sp>
        <p:nvSpPr>
          <p:cNvPr id="17" name="Text 15"/>
          <p:cNvSpPr txBox="1"/>
          <p:nvPr/>
        </p:nvSpPr>
        <p:spPr>
          <a:xfrm>
            <a:off x="3246120" y="3200400"/>
            <a:ext cx="2651760" cy="1371600"/>
          </a:xfrm>
          <a:prstGeom prst="rect">
            <a:avLst/>
          </a:prstGeom>
          <a:noFill/>
          <a:ln/>
        </p:spPr>
        <p:txBody>
          <a:bodyPr wrap="square" lIns="0" tIns="0" rIns="0" bIns="0" rtlCol="0" anchor="t"/>
          <a:lstStyle/>
          <a:p>
            <a:pPr marL="0" indent="0">
              <a:buNone/>
            </a:pPr>
            <a:r>
              <a:rPr lang="en-US" sz="1300" dirty="0">
                <a:solidFill>
                  <a:srgbClr val="5F6B7A"/>
                </a:solidFill>
                <a:latin typeface="Calibri" pitchFamily="34" charset="0"/>
                <a:ea typeface="Calibri" pitchFamily="34" charset="-122"/>
                <a:cs typeface="Calibri" pitchFamily="34" charset="-120"/>
              </a:rPr>
              <a:t>Every blank has zero credit history. They are real customers, approved 53.9% of the time.</a:t>
            </a:r>
            <a:endParaRPr lang="en-US" sz="1300" dirty="0"/>
          </a:p>
        </p:txBody>
      </p:sp>
      <p:sp>
        <p:nvSpPr>
          <p:cNvPr id="18" name="Text 16"/>
          <p:cNvSpPr txBox="1"/>
          <p:nvPr/>
        </p:nvSpPr>
        <p:spPr>
          <a:xfrm>
            <a:off x="6035040" y="2423160"/>
            <a:ext cx="2651760" cy="731520"/>
          </a:xfrm>
          <a:prstGeom prst="rect">
            <a:avLst/>
          </a:prstGeom>
          <a:noFill/>
          <a:ln/>
        </p:spPr>
        <p:txBody>
          <a:bodyPr wrap="square" lIns="0" tIns="0" rIns="0" bIns="0" rtlCol="0" anchor="t"/>
          <a:lstStyle/>
          <a:p>
            <a:pPr marL="0" indent="0">
              <a:buNone/>
            </a:pPr>
            <a:r>
              <a:rPr lang="en-US" sz="1400" b="1" dirty="0">
                <a:solidFill>
                  <a:srgbClr val="111111"/>
                </a:solidFill>
                <a:latin typeface="Calibri" pitchFamily="34" charset="0"/>
                <a:ea typeface="Calibri" pitchFamily="34" charset="-122"/>
                <a:cs typeface="Calibri" pitchFamily="34" charset="-120"/>
              </a:rPr>
              <a:t>Divide by 12</a:t>
            </a:r>
            <a:endParaRPr lang="en-US" sz="1400" dirty="0"/>
          </a:p>
        </p:txBody>
      </p:sp>
      <p:sp>
        <p:nvSpPr>
          <p:cNvPr id="19" name="Text 17"/>
          <p:cNvSpPr txBox="1"/>
          <p:nvPr/>
        </p:nvSpPr>
        <p:spPr>
          <a:xfrm>
            <a:off x="6035040" y="3200400"/>
            <a:ext cx="2651760" cy="1371600"/>
          </a:xfrm>
          <a:prstGeom prst="rect">
            <a:avLst/>
          </a:prstGeom>
          <a:noFill/>
          <a:ln/>
        </p:spPr>
        <p:txBody>
          <a:bodyPr wrap="square" lIns="0" tIns="0" rIns="0" bIns="0" rtlCol="0" anchor="t"/>
          <a:lstStyle/>
          <a:p>
            <a:pPr marL="0" indent="0">
              <a:buNone/>
            </a:pPr>
            <a:r>
              <a:rPr lang="en-US" sz="1300" dirty="0">
                <a:solidFill>
                  <a:srgbClr val="5F6B7A"/>
                </a:solidFill>
                <a:latin typeface="Calibri" pitchFamily="34" charset="0"/>
                <a:ea typeface="Calibri" pitchFamily="34" charset="-122"/>
                <a:cs typeface="Calibri" pitchFamily="34" charset="-120"/>
              </a:rPr>
              <a:t>All 20 are exact multiples of 12 and all Salaried: annual pay typed into a monthly field. Left alone they would look falsely safe.</a:t>
            </a:r>
            <a:endParaRPr lang="en-US" sz="1300" dirty="0"/>
          </a:p>
        </p:txBody>
      </p:sp>
      <p:sp>
        <p:nvSpPr>
          <p:cNvPr id="20" name="Text 18"/>
          <p:cNvSpPr txBox="1"/>
          <p:nvPr/>
        </p:nvSpPr>
        <p:spPr>
          <a:xfrm>
            <a:off x="457200" y="4434840"/>
            <a:ext cx="8229600" cy="320040"/>
          </a:xfrm>
          <a:prstGeom prst="rect">
            <a:avLst/>
          </a:prstGeom>
          <a:noFill/>
          <a:ln/>
        </p:spPr>
        <p:txBody>
          <a:bodyPr wrap="square" lIns="0" tIns="0" rIns="0" bIns="0" rtlCol="0" anchor="t"/>
          <a:lstStyle/>
          <a:p>
            <a:pPr marL="0" indent="0">
              <a:buNone/>
            </a:pPr>
            <a:r>
              <a:rPr lang="en-US" sz="1300" b="1" dirty="0">
                <a:solidFill>
                  <a:srgbClr val="1565C0"/>
                </a:solidFill>
                <a:latin typeface="Calibri" pitchFamily="34" charset="0"/>
                <a:ea typeface="Calibri" pitchFamily="34" charset="-122"/>
                <a:cs typeface="Calibri" pitchFamily="34" charset="-120"/>
              </a:rPr>
              <a:t>No rows dropped: 12,000 of 12,000 kept. Approval rate 52.9%, so the target is fairly balanced.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Evidence: income outliers</a:t>
            </a:r>
            <a:endParaRPr lang="en-US" sz="2800" dirty="0"/>
          </a:p>
        </p:txBody>
      </p:sp>
      <p:sp>
        <p:nvSpPr>
          <p:cNvPr id="3" name="Shape 1"/>
          <p:cNvSpPr/>
          <p:nvPr/>
        </p:nvSpPr>
        <p:spPr>
          <a:xfrm>
            <a:off x="7315200" y="347472"/>
            <a:ext cx="1371600" cy="329184"/>
          </a:xfrm>
          <a:prstGeom prst="roundRect">
            <a:avLst>
              <a:gd name="adj" fmla="val 27778"/>
            </a:avLst>
          </a:prstGeom>
          <a:solidFill>
            <a:srgbClr val="F57C00"/>
          </a:solidFill>
          <a:ln w="12700">
            <a:solidFill>
              <a:srgbClr val="F57C0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 1</a:t>
            </a:r>
            <a:endParaRPr lang="en-US" sz="1200" dirty="0"/>
          </a:p>
        </p:txBody>
      </p:sp>
      <p:sp>
        <p:nvSpPr>
          <p:cNvPr id="5" name="Shape 3"/>
          <p:cNvSpPr/>
          <p:nvPr/>
        </p:nvSpPr>
        <p:spPr>
          <a:xfrm>
            <a:off x="457200" y="1005840"/>
            <a:ext cx="4023360" cy="1097280"/>
          </a:xfrm>
          <a:prstGeom prst="roundRect">
            <a:avLst>
              <a:gd name="adj" fmla="val 6667"/>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6" name="Text 4"/>
          <p:cNvSpPr txBox="1"/>
          <p:nvPr/>
        </p:nvSpPr>
        <p:spPr>
          <a:xfrm>
            <a:off x="594360" y="1097280"/>
            <a:ext cx="3749040" cy="493776"/>
          </a:xfrm>
          <a:prstGeom prst="rect">
            <a:avLst/>
          </a:prstGeom>
          <a:noFill/>
          <a:ln/>
        </p:spPr>
        <p:txBody>
          <a:bodyPr wrap="square" lIns="0" tIns="0" rIns="0" bIns="0" rtlCol="0" anchor="ctr"/>
          <a:lstStyle/>
          <a:p>
            <a:pPr marL="0" indent="0">
              <a:buNone/>
            </a:pPr>
            <a:r>
              <a:rPr lang="en-US" sz="3000" b="1" dirty="0">
                <a:solidFill>
                  <a:srgbClr val="F57C00"/>
                </a:solidFill>
                <a:latin typeface="Calibri" pitchFamily="34" charset="0"/>
                <a:ea typeface="Calibri" pitchFamily="34" charset="-122"/>
                <a:cs typeface="Calibri" pitchFamily="34" charset="-120"/>
              </a:rPr>
              <a:t>0.5–4%</a:t>
            </a:r>
            <a:endParaRPr lang="en-US" sz="3000" dirty="0"/>
          </a:p>
        </p:txBody>
      </p:sp>
      <p:sp>
        <p:nvSpPr>
          <p:cNvPr id="7" name="Text 5"/>
          <p:cNvSpPr txBox="1"/>
          <p:nvPr/>
        </p:nvSpPr>
        <p:spPr>
          <a:xfrm>
            <a:off x="594360" y="1609344"/>
            <a:ext cx="3749040" cy="438912"/>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FOIR if taken as typed: impossible, no one else is near</a:t>
            </a:r>
            <a:endParaRPr lang="en-US" sz="1300" dirty="0"/>
          </a:p>
        </p:txBody>
      </p:sp>
      <p:sp>
        <p:nvSpPr>
          <p:cNvPr id="8" name="Shape 6"/>
          <p:cNvSpPr/>
          <p:nvPr/>
        </p:nvSpPr>
        <p:spPr>
          <a:xfrm>
            <a:off x="4663440" y="1005840"/>
            <a:ext cx="4023360" cy="1097280"/>
          </a:xfrm>
          <a:prstGeom prst="roundRect">
            <a:avLst>
              <a:gd name="adj" fmla="val 6667"/>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9" name="Text 7"/>
          <p:cNvSpPr txBox="1"/>
          <p:nvPr/>
        </p:nvSpPr>
        <p:spPr>
          <a:xfrm>
            <a:off x="4800600" y="1097280"/>
            <a:ext cx="3749040" cy="493776"/>
          </a:xfrm>
          <a:prstGeom prst="rect">
            <a:avLst/>
          </a:prstGeom>
          <a:noFill/>
          <a:ln/>
        </p:spPr>
        <p:txBody>
          <a:bodyPr wrap="square" lIns="0" tIns="0" rIns="0" bIns="0" rtlCol="0" anchor="ctr"/>
          <a:lstStyle/>
          <a:p>
            <a:pPr marL="0" indent="0">
              <a:buNone/>
            </a:pPr>
            <a:r>
              <a:rPr lang="en-US" sz="3000" b="1" dirty="0">
                <a:solidFill>
                  <a:srgbClr val="1565C0"/>
                </a:solidFill>
                <a:latin typeface="Calibri" pitchFamily="34" charset="0"/>
                <a:ea typeface="Calibri" pitchFamily="34" charset="-122"/>
                <a:cs typeface="Calibri" pitchFamily="34" charset="-120"/>
              </a:rPr>
              <a:t>0.29</a:t>
            </a:r>
            <a:endParaRPr lang="en-US" sz="3000" dirty="0"/>
          </a:p>
        </p:txBody>
      </p:sp>
      <p:sp>
        <p:nvSpPr>
          <p:cNvPr id="10" name="Text 8"/>
          <p:cNvSpPr txBox="1"/>
          <p:nvPr/>
        </p:nvSpPr>
        <p:spPr>
          <a:xfrm>
            <a:off x="4800600" y="1609344"/>
            <a:ext cx="3749040" cy="438912"/>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median FOIR after dividing by 12 (others: 0.32)</a:t>
            </a:r>
            <a:endParaRPr lang="en-US" sz="1300" dirty="0"/>
          </a:p>
        </p:txBody>
      </p:sp>
      <p:sp>
        <p:nvSpPr>
          <p:cNvPr id="11" name="Shape 9"/>
          <p:cNvSpPr/>
          <p:nvPr/>
        </p:nvSpPr>
        <p:spPr>
          <a:xfrm>
            <a:off x="457200" y="2286000"/>
            <a:ext cx="4023360" cy="1097280"/>
          </a:xfrm>
          <a:prstGeom prst="roundRect">
            <a:avLst>
              <a:gd name="adj" fmla="val 6667"/>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12" name="Text 10"/>
          <p:cNvSpPr txBox="1"/>
          <p:nvPr/>
        </p:nvSpPr>
        <p:spPr>
          <a:xfrm>
            <a:off x="594360" y="2377440"/>
            <a:ext cx="3749040" cy="493776"/>
          </a:xfrm>
          <a:prstGeom prst="rect">
            <a:avLst/>
          </a:prstGeom>
          <a:noFill/>
          <a:ln/>
        </p:spPr>
        <p:txBody>
          <a:bodyPr wrap="square" lIns="0" tIns="0" rIns="0" bIns="0" rtlCol="0" anchor="ctr"/>
          <a:lstStyle/>
          <a:p>
            <a:pPr marL="0" indent="0">
              <a:buNone/>
            </a:pPr>
            <a:r>
              <a:rPr lang="en-US" sz="3000" b="1" dirty="0">
                <a:solidFill>
                  <a:srgbClr val="1565C0"/>
                </a:solidFill>
                <a:latin typeface="Calibri" pitchFamily="34" charset="0"/>
                <a:ea typeface="Calibri" pitchFamily="34" charset="-122"/>
                <a:cs typeface="Calibri" pitchFamily="34" charset="-120"/>
              </a:rPr>
              <a:t>55%</a:t>
            </a:r>
            <a:endParaRPr lang="en-US" sz="3000" dirty="0"/>
          </a:p>
        </p:txBody>
      </p:sp>
      <p:sp>
        <p:nvSpPr>
          <p:cNvPr id="13" name="Text 11"/>
          <p:cNvSpPr txBox="1"/>
          <p:nvPr/>
        </p:nvSpPr>
        <p:spPr>
          <a:xfrm>
            <a:off x="594360" y="2889504"/>
            <a:ext cx="3749040" cy="438912"/>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approval rate of the 20 rows (others: 53%)</a:t>
            </a:r>
            <a:endParaRPr lang="en-US" sz="1300" dirty="0"/>
          </a:p>
        </p:txBody>
      </p:sp>
      <p:sp>
        <p:nvSpPr>
          <p:cNvPr id="14" name="Shape 12"/>
          <p:cNvSpPr/>
          <p:nvPr/>
        </p:nvSpPr>
        <p:spPr>
          <a:xfrm>
            <a:off x="4663440" y="2286000"/>
            <a:ext cx="4023360" cy="1097280"/>
          </a:xfrm>
          <a:prstGeom prst="roundRect">
            <a:avLst>
              <a:gd name="adj" fmla="val 6667"/>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15" name="Text 13"/>
          <p:cNvSpPr txBox="1"/>
          <p:nvPr/>
        </p:nvSpPr>
        <p:spPr>
          <a:xfrm>
            <a:off x="4800600" y="2377440"/>
            <a:ext cx="3749040" cy="493776"/>
          </a:xfrm>
          <a:prstGeom prst="rect">
            <a:avLst/>
          </a:prstGeom>
          <a:noFill/>
          <a:ln/>
        </p:spPr>
        <p:txBody>
          <a:bodyPr wrap="square" lIns="0" tIns="0" rIns="0" bIns="0" rtlCol="0" anchor="ctr"/>
          <a:lstStyle/>
          <a:p>
            <a:pPr marL="0" indent="0">
              <a:buNone/>
            </a:pPr>
            <a:r>
              <a:rPr lang="en-US" sz="3000" b="1" dirty="0">
                <a:solidFill>
                  <a:srgbClr val="F57C00"/>
                </a:solidFill>
                <a:latin typeface="Calibri" pitchFamily="34" charset="0"/>
                <a:ea typeface="Calibri" pitchFamily="34" charset="-122"/>
                <a:cs typeface="Calibri" pitchFamily="34" charset="-120"/>
              </a:rPr>
              <a:t>20 of 20</a:t>
            </a:r>
            <a:endParaRPr lang="en-US" sz="3000" dirty="0"/>
          </a:p>
        </p:txBody>
      </p:sp>
      <p:sp>
        <p:nvSpPr>
          <p:cNvPr id="16" name="Text 14"/>
          <p:cNvSpPr txBox="1"/>
          <p:nvPr/>
        </p:nvSpPr>
        <p:spPr>
          <a:xfrm>
            <a:off x="4800600" y="2889504"/>
            <a:ext cx="3749040" cy="438912"/>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are Salaried and exact multiples of 12</a:t>
            </a:r>
            <a:endParaRPr lang="en-US" sz="1300" dirty="0"/>
          </a:p>
        </p:txBody>
      </p:sp>
      <p:sp>
        <p:nvSpPr>
          <p:cNvPr id="17" name="Text 15"/>
          <p:cNvSpPr txBox="1"/>
          <p:nvPr/>
        </p:nvSpPr>
        <p:spPr>
          <a:xfrm>
            <a:off x="457200" y="3611880"/>
            <a:ext cx="8229600" cy="914400"/>
          </a:xfrm>
          <a:prstGeom prst="rect">
            <a:avLst/>
          </a:prstGeom>
          <a:noFill/>
          <a:ln/>
        </p:spPr>
        <p:txBody>
          <a:bodyPr wrap="square" lIns="0" tIns="0" rIns="0" bIns="0" rtlCol="0" anchor="t"/>
          <a:lstStyle/>
          <a:p>
            <a:pPr marL="0" indent="0">
              <a:buNone/>
            </a:pPr>
            <a:r>
              <a:rPr lang="en-US" sz="1400" dirty="0">
                <a:solidFill>
                  <a:srgbClr val="111111"/>
                </a:solidFill>
                <a:latin typeface="Calibri" pitchFamily="34" charset="0"/>
                <a:ea typeface="Calibri" pitchFamily="34" charset="-122"/>
                <a:cs typeface="Calibri" pitchFamily="34" charset="-120"/>
              </a:rPr>
              <a:t>Their EMIs and loan amounts look normal (median proposed EMI 13,250 vs 10,400), so income is the odd field, not the loan. About 20 more values between 263,000 and 349,000 are plausible senior salaries and were left unchanged.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8D1245B9-26FB-6996-9740-A29939FF0FFA}"/>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CCCFB5A1-D58C-0D08-1A78-1641B97BB220}"/>
              </a:ext>
            </a:extLst>
          </p:cNvPr>
          <p:cNvSpPr txBox="1"/>
          <p:nvPr/>
        </p:nvSpPr>
        <p:spPr>
          <a:xfrm>
            <a:off x="3373121" y="1954107"/>
            <a:ext cx="2390986" cy="1097280"/>
          </a:xfrm>
          <a:prstGeom prst="rect">
            <a:avLst/>
          </a:prstGeom>
          <a:noFill/>
          <a:ln/>
        </p:spPr>
        <p:txBody>
          <a:bodyPr wrap="square" lIns="0" tIns="0" rIns="0" bIns="0" rtlCol="0" anchor="t"/>
          <a:lstStyle/>
          <a:p>
            <a:r>
              <a:rPr lang="en-US" sz="7200" b="1" dirty="0">
                <a:solidFill>
                  <a:srgbClr val="FFFFFF"/>
                </a:solidFill>
                <a:latin typeface="Calibri" pitchFamily="34" charset="0"/>
                <a:ea typeface="Calibri" pitchFamily="34" charset="-122"/>
                <a:cs typeface="Calibri" pitchFamily="34" charset="-120"/>
              </a:rPr>
              <a:t>FOIR</a:t>
            </a:r>
            <a:r>
              <a:rPr lang="en-US" sz="7200" b="1" dirty="0">
                <a:solidFill>
                  <a:srgbClr val="F57C00"/>
                </a:solidFill>
                <a:latin typeface="Calibri" pitchFamily="34" charset="0"/>
                <a:ea typeface="Calibri" pitchFamily="34" charset="-122"/>
                <a:cs typeface="Calibri" pitchFamily="34" charset="-120"/>
              </a:rPr>
              <a:t>?</a:t>
            </a:r>
            <a:endParaRPr lang="en-US" sz="7200" dirty="0"/>
          </a:p>
        </p:txBody>
      </p:sp>
    </p:spTree>
    <p:extLst>
      <p:ext uri="{BB962C8B-B14F-4D97-AF65-F5344CB8AC3E}">
        <p14:creationId xmlns:p14="http://schemas.microsoft.com/office/powerpoint/2010/main" val="1257846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What drives approval today</a:t>
            </a:r>
            <a:endParaRPr lang="en-US" sz="2800" dirty="0"/>
          </a:p>
        </p:txBody>
      </p:sp>
      <p:sp>
        <p:nvSpPr>
          <p:cNvPr id="3" name="Shape 1"/>
          <p:cNvSpPr/>
          <p:nvPr/>
        </p:nvSpPr>
        <p:spPr>
          <a:xfrm>
            <a:off x="7315200" y="347472"/>
            <a:ext cx="1371600" cy="329184"/>
          </a:xfrm>
          <a:prstGeom prst="roundRect">
            <a:avLst>
              <a:gd name="adj" fmla="val 27778"/>
            </a:avLst>
          </a:prstGeom>
          <a:solidFill>
            <a:srgbClr val="F57C00"/>
          </a:solidFill>
          <a:ln w="12700">
            <a:solidFill>
              <a:srgbClr val="F57C0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 1</a:t>
            </a:r>
            <a:endParaRPr lang="en-US" sz="1200" dirty="0"/>
          </a:p>
        </p:txBody>
      </p:sp>
      <p:graphicFrame>
        <p:nvGraphicFramePr>
          <p:cNvPr id="5" name="Chart 0"/>
          <p:cNvGraphicFramePr/>
          <p:nvPr/>
        </p:nvGraphicFramePr>
        <p:xfrm>
          <a:off x="365760" y="914400"/>
          <a:ext cx="4206240" cy="30175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663440" y="914400"/>
          <a:ext cx="411480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txBox="1"/>
          <p:nvPr/>
        </p:nvSpPr>
        <p:spPr>
          <a:xfrm>
            <a:off x="457200" y="4023360"/>
            <a:ext cx="8229600" cy="9144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11111"/>
                </a:solidFill>
                <a:latin typeface="Calibri" pitchFamily="34" charset="0"/>
                <a:ea typeface="Calibri" pitchFamily="34" charset="-122"/>
                <a:cs typeface="Calibri" pitchFamily="34" charset="-120"/>
              </a:rPr>
              <a:t>Unwritten policy: a score cliff at 650 (about 3% approved below, 28% just above)</a:t>
            </a:r>
            <a:endParaRPr lang="en-US" sz="1300" dirty="0"/>
          </a:p>
          <a:p>
            <a:pPr marL="342900" indent="-342900">
              <a:spcAft>
                <a:spcPts val="400"/>
              </a:spcAft>
              <a:buSzPct val="100000"/>
              <a:buChar char="•"/>
            </a:pPr>
            <a:r>
              <a:rPr lang="en-US" sz="1300" dirty="0">
                <a:solidFill>
                  <a:srgbClr val="111111"/>
                </a:solidFill>
                <a:latin typeface="Calibri" pitchFamily="34" charset="0"/>
                <a:ea typeface="Calibri" pitchFamily="34" charset="-122"/>
                <a:cs typeface="Calibri" pitchFamily="34" charset="-120"/>
              </a:rPr>
              <a:t>Propose a FOIR cap of 55%, with 50% as an amber level</a:t>
            </a:r>
            <a:endParaRPr lang="en-US" sz="1300" dirty="0"/>
          </a:p>
          <a:p>
            <a:pPr marL="342900" indent="-342900">
              <a:spcAft>
                <a:spcPts val="400"/>
              </a:spcAft>
              <a:buSzPct val="100000"/>
              <a:buChar char="•"/>
            </a:pPr>
            <a:r>
              <a:rPr lang="en-US" sz="1300" dirty="0">
                <a:solidFill>
                  <a:srgbClr val="111111"/>
                </a:solidFill>
                <a:latin typeface="Calibri" pitchFamily="34" charset="0"/>
                <a:ea typeface="Calibri" pitchFamily="34" charset="-122"/>
                <a:cs typeface="Calibri" pitchFamily="34" charset="-120"/>
              </a:rPr>
              <a:t>Gig / Contract approved only 34.9% vs 58.4% Salaried: examined in the fairness check</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Employment type and thin files</a:t>
            </a:r>
            <a:endParaRPr lang="en-US" sz="2800" dirty="0"/>
          </a:p>
        </p:txBody>
      </p:sp>
      <p:sp>
        <p:nvSpPr>
          <p:cNvPr id="3" name="Shape 1"/>
          <p:cNvSpPr/>
          <p:nvPr/>
        </p:nvSpPr>
        <p:spPr>
          <a:xfrm>
            <a:off x="7315200" y="347472"/>
            <a:ext cx="1371600" cy="329184"/>
          </a:xfrm>
          <a:prstGeom prst="roundRect">
            <a:avLst>
              <a:gd name="adj" fmla="val 27778"/>
            </a:avLst>
          </a:prstGeom>
          <a:solidFill>
            <a:srgbClr val="F57C00"/>
          </a:solidFill>
          <a:ln w="12700">
            <a:solidFill>
              <a:srgbClr val="F57C0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 1</a:t>
            </a:r>
            <a:endParaRPr lang="en-US" sz="1200" dirty="0"/>
          </a:p>
        </p:txBody>
      </p:sp>
      <p:graphicFrame>
        <p:nvGraphicFramePr>
          <p:cNvPr id="5" name="Chart 0"/>
          <p:cNvGraphicFramePr/>
          <p:nvPr/>
        </p:nvGraphicFramePr>
        <p:xfrm>
          <a:off x="365760" y="914400"/>
          <a:ext cx="45720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212080" y="1097280"/>
            <a:ext cx="3474720" cy="338328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11111"/>
                </a:solidFill>
                <a:latin typeface="Calibri" pitchFamily="34" charset="0"/>
                <a:ea typeface="Calibri" pitchFamily="34" charset="-122"/>
                <a:cs typeface="Calibri" pitchFamily="34" charset="-120"/>
              </a:rPr>
              <a:t>Gig / Contract approval is about 23 points below Salaried: a direct penalty, or lower income and higher FOIR? Tested in the fairness check</a:t>
            </a:r>
            <a:endParaRPr lang="en-US" sz="1300" dirty="0"/>
          </a:p>
          <a:p>
            <a:pPr marL="342900" indent="-342900">
              <a:spcAft>
                <a:spcPts val="1000"/>
              </a:spcAft>
              <a:buSzPct val="100000"/>
              <a:buChar char="•"/>
            </a:pPr>
            <a:r>
              <a:rPr lang="en-US" sz="1300" dirty="0">
                <a:solidFill>
                  <a:srgbClr val="111111"/>
                </a:solidFill>
                <a:latin typeface="Calibri" pitchFamily="34" charset="0"/>
                <a:ea typeface="Calibri" pitchFamily="34" charset="-122"/>
                <a:cs typeface="Calibri" pitchFamily="34" charset="-120"/>
              </a:rPr>
              <a:t>New-to-credit applicants are approved 53.9% of the time, level with the 700–749 band, so analysts judge them on other evidence</a:t>
            </a:r>
            <a:endParaRPr lang="en-US" sz="1300" dirty="0"/>
          </a:p>
          <a:p>
            <a:pPr marL="342900" indent="-342900">
              <a:spcAft>
                <a:spcPts val="1000"/>
              </a:spcAft>
              <a:buSzPct val="100000"/>
              <a:buChar char="•"/>
            </a:pPr>
            <a:r>
              <a:rPr lang="en-US" sz="1300" dirty="0">
                <a:solidFill>
                  <a:srgbClr val="111111"/>
                </a:solidFill>
                <a:latin typeface="Calibri" pitchFamily="34" charset="0"/>
                <a:ea typeface="Calibri" pitchFamily="34" charset="-122"/>
                <a:cs typeface="Calibri" pitchFamily="34" charset="-120"/>
              </a:rPr>
              <a:t>1,179 applications (9.8%) score below 650 and are almost never approved: the natural source of auto-decline volume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Logistic regression baseline</a:t>
            </a:r>
            <a:endParaRPr lang="en-US" sz="2800" dirty="0"/>
          </a:p>
        </p:txBody>
      </p:sp>
      <p:sp>
        <p:nvSpPr>
          <p:cNvPr id="3" name="Shape 1"/>
          <p:cNvSpPr/>
          <p:nvPr/>
        </p:nvSpPr>
        <p:spPr>
          <a:xfrm>
            <a:off x="7315200" y="347472"/>
            <a:ext cx="1371600" cy="329184"/>
          </a:xfrm>
          <a:prstGeom prst="roundRect">
            <a:avLst>
              <a:gd name="adj" fmla="val 27778"/>
            </a:avLst>
          </a:prstGeom>
          <a:solidFill>
            <a:srgbClr val="F57C00"/>
          </a:solidFill>
          <a:ln w="12700">
            <a:solidFill>
              <a:srgbClr val="F57C0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 1</a:t>
            </a:r>
            <a:endParaRPr lang="en-US" sz="1200" dirty="0"/>
          </a:p>
        </p:txBody>
      </p:sp>
      <p:sp>
        <p:nvSpPr>
          <p:cNvPr id="5" name="Shape 3"/>
          <p:cNvSpPr/>
          <p:nvPr/>
        </p:nvSpPr>
        <p:spPr>
          <a:xfrm>
            <a:off x="457200" y="1005840"/>
            <a:ext cx="1920240" cy="1005840"/>
          </a:xfrm>
          <a:prstGeom prst="roundRect">
            <a:avLst>
              <a:gd name="adj" fmla="val 7273"/>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6" name="Text 4"/>
          <p:cNvSpPr txBox="1"/>
          <p:nvPr/>
        </p:nvSpPr>
        <p:spPr>
          <a:xfrm>
            <a:off x="594360" y="1097280"/>
            <a:ext cx="1645920" cy="452628"/>
          </a:xfrm>
          <a:prstGeom prst="rect">
            <a:avLst/>
          </a:prstGeom>
          <a:noFill/>
          <a:ln/>
        </p:spPr>
        <p:txBody>
          <a:bodyPr wrap="square" lIns="0" tIns="0" rIns="0" bIns="0" rtlCol="0" anchor="ctr"/>
          <a:lstStyle/>
          <a:p>
            <a:pPr marL="0" indent="0">
              <a:buNone/>
            </a:pPr>
            <a:r>
              <a:rPr lang="en-US" sz="3000" b="1" dirty="0">
                <a:solidFill>
                  <a:srgbClr val="1565C0"/>
                </a:solidFill>
                <a:latin typeface="Calibri" pitchFamily="34" charset="0"/>
                <a:ea typeface="Calibri" pitchFamily="34" charset="-122"/>
                <a:cs typeface="Calibri" pitchFamily="34" charset="-120"/>
              </a:rPr>
              <a:t>79.1%</a:t>
            </a:r>
            <a:endParaRPr lang="en-US" sz="3000" dirty="0"/>
          </a:p>
        </p:txBody>
      </p:sp>
      <p:sp>
        <p:nvSpPr>
          <p:cNvPr id="7" name="Text 5"/>
          <p:cNvSpPr txBox="1"/>
          <p:nvPr/>
        </p:nvSpPr>
        <p:spPr>
          <a:xfrm>
            <a:off x="594360" y="1559052"/>
            <a:ext cx="1645920" cy="402336"/>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accuracy at 0.5 cut-off</a:t>
            </a:r>
            <a:endParaRPr lang="en-US" sz="1300" dirty="0"/>
          </a:p>
        </p:txBody>
      </p:sp>
      <p:sp>
        <p:nvSpPr>
          <p:cNvPr id="8" name="Shape 6"/>
          <p:cNvSpPr/>
          <p:nvPr/>
        </p:nvSpPr>
        <p:spPr>
          <a:xfrm>
            <a:off x="2514600" y="1005840"/>
            <a:ext cx="1920240" cy="1005840"/>
          </a:xfrm>
          <a:prstGeom prst="roundRect">
            <a:avLst>
              <a:gd name="adj" fmla="val 7273"/>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9" name="Text 7"/>
          <p:cNvSpPr txBox="1"/>
          <p:nvPr/>
        </p:nvSpPr>
        <p:spPr>
          <a:xfrm>
            <a:off x="2651760" y="1097280"/>
            <a:ext cx="1645920" cy="452628"/>
          </a:xfrm>
          <a:prstGeom prst="rect">
            <a:avLst/>
          </a:prstGeom>
          <a:noFill/>
          <a:ln/>
        </p:spPr>
        <p:txBody>
          <a:bodyPr wrap="square" lIns="0" tIns="0" rIns="0" bIns="0" rtlCol="0" anchor="ctr"/>
          <a:lstStyle/>
          <a:p>
            <a:pPr marL="0" indent="0">
              <a:buNone/>
            </a:pPr>
            <a:r>
              <a:rPr lang="en-US" sz="3000" b="1" dirty="0">
                <a:solidFill>
                  <a:srgbClr val="F57C00"/>
                </a:solidFill>
                <a:latin typeface="Calibri" pitchFamily="34" charset="0"/>
                <a:ea typeface="Calibri" pitchFamily="34" charset="-122"/>
                <a:cs typeface="Calibri" pitchFamily="34" charset="-120"/>
              </a:rPr>
              <a:t>17.7%</a:t>
            </a:r>
            <a:endParaRPr lang="en-US" sz="3000" dirty="0"/>
          </a:p>
        </p:txBody>
      </p:sp>
      <p:sp>
        <p:nvSpPr>
          <p:cNvPr id="10" name="Text 8"/>
          <p:cNvSpPr txBox="1"/>
          <p:nvPr/>
        </p:nvSpPr>
        <p:spPr>
          <a:xfrm>
            <a:off x="2651760" y="1559052"/>
            <a:ext cx="1645920" cy="402336"/>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good applicants wrongly declined (225 of 1,271)</a:t>
            </a:r>
            <a:endParaRPr lang="en-US" sz="1300" dirty="0"/>
          </a:p>
        </p:txBody>
      </p:sp>
      <p:sp>
        <p:nvSpPr>
          <p:cNvPr id="11" name="Text 9"/>
          <p:cNvSpPr txBox="1"/>
          <p:nvPr/>
        </p:nvSpPr>
        <p:spPr>
          <a:xfrm>
            <a:off x="457200" y="2286000"/>
            <a:ext cx="3977640" cy="1097280"/>
          </a:xfrm>
          <a:prstGeom prst="rect">
            <a:avLst/>
          </a:prstGeom>
          <a:noFill/>
          <a:ln/>
        </p:spPr>
        <p:txBody>
          <a:bodyPr wrap="square" lIns="0" tIns="0" rIns="0" bIns="0" rtlCol="0" anchor="t"/>
          <a:lstStyle/>
          <a:p>
            <a:pPr marL="0" indent="0">
              <a:buNone/>
            </a:pPr>
            <a:r>
              <a:rPr lang="en-US" sz="1400" dirty="0">
                <a:solidFill>
                  <a:srgbClr val="111111"/>
                </a:solidFill>
                <a:latin typeface="Calibri" pitchFamily="34" charset="0"/>
                <a:ea typeface="Calibri" pitchFamily="34" charset="-122"/>
                <a:cs typeface="Calibri" pitchFamily="34" charset="-120"/>
              </a:rPr>
              <a:t>Why 0.5 is not usable: nearly 1 in 5 creditworthy customers would be turned away. Declined precision 79.1%, recall 75.5%.</a:t>
            </a:r>
            <a:endParaRPr lang="en-US" sz="1400" dirty="0"/>
          </a:p>
        </p:txBody>
      </p:sp>
      <p:sp>
        <p:nvSpPr>
          <p:cNvPr id="12" name="Text 10"/>
          <p:cNvSpPr txBox="1"/>
          <p:nvPr/>
        </p:nvSpPr>
        <p:spPr>
          <a:xfrm>
            <a:off x="457200" y="3474720"/>
            <a:ext cx="3977640" cy="1097280"/>
          </a:xfrm>
          <a:prstGeom prst="rect">
            <a:avLst/>
          </a:prstGeom>
          <a:noFill/>
          <a:ln/>
        </p:spPr>
        <p:txBody>
          <a:bodyPr wrap="square" lIns="0" tIns="0" rIns="0" bIns="0" rtlCol="0" anchor="t"/>
          <a:lstStyle/>
          <a:p>
            <a:pPr marL="0" indent="0">
              <a:buNone/>
            </a:pPr>
            <a:r>
              <a:rPr lang="en-US" sz="1400" dirty="0">
                <a:solidFill>
                  <a:srgbClr val="5F6B7A"/>
                </a:solidFill>
                <a:latin typeface="Calibri" pitchFamily="34" charset="0"/>
                <a:ea typeface="Calibri" pitchFamily="34" charset="-122"/>
                <a:cs typeface="Calibri" pitchFamily="34" charset="-120"/>
              </a:rPr>
              <a:t>Reads like the credit team: affordability, bureau score and repayment history lead; city tier and age barely matter.</a:t>
            </a:r>
            <a:endParaRPr lang="en-US" sz="1400" dirty="0"/>
          </a:p>
        </p:txBody>
      </p:sp>
      <p:graphicFrame>
        <p:nvGraphicFramePr>
          <p:cNvPr id="13" name="Chart 0"/>
          <p:cNvGraphicFramePr/>
          <p:nvPr/>
        </p:nvGraphicFramePr>
        <p:xfrm>
          <a:off x="4663440" y="914400"/>
          <a:ext cx="4114800" cy="38404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Confusion matrix in plain words</a:t>
            </a:r>
            <a:endParaRPr lang="en-US" sz="2800" dirty="0"/>
          </a:p>
        </p:txBody>
      </p:sp>
      <p:sp>
        <p:nvSpPr>
          <p:cNvPr id="3" name="Shape 1"/>
          <p:cNvSpPr/>
          <p:nvPr/>
        </p:nvSpPr>
        <p:spPr>
          <a:xfrm>
            <a:off x="7315200" y="347472"/>
            <a:ext cx="1371600" cy="329184"/>
          </a:xfrm>
          <a:prstGeom prst="roundRect">
            <a:avLst>
              <a:gd name="adj" fmla="val 27778"/>
            </a:avLst>
          </a:prstGeom>
          <a:solidFill>
            <a:srgbClr val="F57C00"/>
          </a:solidFill>
          <a:ln w="12700">
            <a:solidFill>
              <a:srgbClr val="F57C0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 1</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754880" cy="1097280"/>
        </p:xfrm>
        <a:graphic>
          <a:graphicData uri="http://schemas.openxmlformats.org/drawingml/2006/table">
            <a:tbl>
              <a:tblPr/>
              <a:tblGrid>
                <a:gridCol w="1554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65760">
                <a:tc>
                  <a:txBody>
                    <a:bodyPr/>
                    <a:lstStyle/>
                    <a:p>
                      <a:pPr marL="0" indent="0" algn="l">
                        <a:buNone/>
                      </a:pP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Pred. Approved</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Pred. Declined</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extLst>
                  <a:ext uri="{0D108BD9-81ED-4DB2-BD59-A6C34878D82A}">
                    <a16:rowId xmlns:a16="http://schemas.microsoft.com/office/drawing/2014/main" val="10000"/>
                  </a:ext>
                </a:extLst>
              </a:tr>
              <a:tr h="36576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Actually Approved</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1,046</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225 wrongly declined</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1"/>
                  </a:ext>
                </a:extLst>
              </a:tr>
              <a:tr h="36576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Actually Declined</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277 waved through</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852</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Text 3"/>
          <p:cNvSpPr txBox="1"/>
          <p:nvPr/>
        </p:nvSpPr>
        <p:spPr>
          <a:xfrm>
            <a:off x="457200" y="2560320"/>
            <a:ext cx="475488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11111"/>
                </a:solidFill>
                <a:latin typeface="Calibri" pitchFamily="34" charset="0"/>
                <a:ea typeface="Calibri" pitchFamily="34" charset="-122"/>
                <a:cs typeface="Calibri" pitchFamily="34" charset="-120"/>
              </a:rPr>
              <a:t>225 of 1,271 creditworthy applicants (17.7%) would be wrongly declined at 0.5</a:t>
            </a:r>
            <a:endParaRPr lang="en-US" sz="1400" dirty="0"/>
          </a:p>
          <a:p>
            <a:pPr marL="342900" indent="-342900">
              <a:spcAft>
                <a:spcPts val="800"/>
              </a:spcAft>
              <a:buSzPct val="100000"/>
              <a:buChar char="•"/>
            </a:pPr>
            <a:r>
              <a:rPr lang="en-US" sz="1400" dirty="0">
                <a:solidFill>
                  <a:srgbClr val="111111"/>
                </a:solidFill>
                <a:latin typeface="Calibri" pitchFamily="34" charset="0"/>
                <a:ea typeface="Calibri" pitchFamily="34" charset="-122"/>
                <a:cs typeface="Calibri" pitchFamily="34" charset="-120"/>
              </a:rPr>
              <a:t>277 of 1,129 declines (24.5%) would be missed, which is harmless here as analysts still review them</a:t>
            </a:r>
            <a:endParaRPr lang="en-US" sz="1400" dirty="0"/>
          </a:p>
          <a:p>
            <a:pPr marL="342900" indent="-342900">
              <a:spcAft>
                <a:spcPts val="800"/>
              </a:spcAft>
              <a:buSzPct val="100000"/>
              <a:buChar char="•"/>
            </a:pPr>
            <a:r>
              <a:rPr lang="en-US" sz="1400" dirty="0">
                <a:solidFill>
                  <a:srgbClr val="111111"/>
                </a:solidFill>
                <a:latin typeface="Calibri" pitchFamily="34" charset="0"/>
                <a:ea typeface="Calibri" pitchFamily="34" charset="-122"/>
                <a:cs typeface="Calibri" pitchFamily="34" charset="-120"/>
              </a:rPr>
              <a:t>79% accuracy hides that the model is unsafe to act on at the default cut-off</a:t>
            </a:r>
            <a:endParaRPr lang="en-US" sz="1400" dirty="0"/>
          </a:p>
        </p:txBody>
      </p:sp>
      <p:sp>
        <p:nvSpPr>
          <p:cNvPr id="7" name="Shape 4"/>
          <p:cNvSpPr/>
          <p:nvPr/>
        </p:nvSpPr>
        <p:spPr>
          <a:xfrm>
            <a:off x="5577840" y="1097280"/>
            <a:ext cx="3108960" cy="1097280"/>
          </a:xfrm>
          <a:prstGeom prst="roundRect">
            <a:avLst>
              <a:gd name="adj" fmla="val 6667"/>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8" name="Text 5"/>
          <p:cNvSpPr txBox="1"/>
          <p:nvPr/>
        </p:nvSpPr>
        <p:spPr>
          <a:xfrm>
            <a:off x="5715000" y="1188720"/>
            <a:ext cx="2834640" cy="493776"/>
          </a:xfrm>
          <a:prstGeom prst="rect">
            <a:avLst/>
          </a:prstGeom>
          <a:noFill/>
          <a:ln/>
        </p:spPr>
        <p:txBody>
          <a:bodyPr wrap="square" lIns="0" tIns="0" rIns="0" bIns="0" rtlCol="0" anchor="ctr"/>
          <a:lstStyle/>
          <a:p>
            <a:pPr marL="0" indent="0">
              <a:buNone/>
            </a:pPr>
            <a:r>
              <a:rPr lang="en-US" sz="3000" b="1" dirty="0">
                <a:solidFill>
                  <a:srgbClr val="1565C0"/>
                </a:solidFill>
                <a:latin typeface="Calibri" pitchFamily="34" charset="0"/>
                <a:ea typeface="Calibri" pitchFamily="34" charset="-122"/>
                <a:cs typeface="Calibri" pitchFamily="34" charset="-120"/>
              </a:rPr>
              <a:t>79.1%</a:t>
            </a:r>
            <a:endParaRPr lang="en-US" sz="3000" dirty="0"/>
          </a:p>
        </p:txBody>
      </p:sp>
      <p:sp>
        <p:nvSpPr>
          <p:cNvPr id="9" name="Text 6"/>
          <p:cNvSpPr txBox="1"/>
          <p:nvPr/>
        </p:nvSpPr>
        <p:spPr>
          <a:xfrm>
            <a:off x="5715000" y="1700784"/>
            <a:ext cx="2834640" cy="438912"/>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accuracy · precision (Declined) 79.1%</a:t>
            </a:r>
            <a:endParaRPr lang="en-US" sz="1300" dirty="0"/>
          </a:p>
        </p:txBody>
      </p:sp>
      <p:sp>
        <p:nvSpPr>
          <p:cNvPr id="5" name="Shape 7"/>
          <p:cNvSpPr/>
          <p:nvPr/>
        </p:nvSpPr>
        <p:spPr>
          <a:xfrm>
            <a:off x="5577840" y="2377440"/>
            <a:ext cx="3108960" cy="1097280"/>
          </a:xfrm>
          <a:prstGeom prst="roundRect">
            <a:avLst>
              <a:gd name="adj" fmla="val 6667"/>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11" name="Text 8"/>
          <p:cNvSpPr txBox="1"/>
          <p:nvPr/>
        </p:nvSpPr>
        <p:spPr>
          <a:xfrm>
            <a:off x="5715000" y="2468880"/>
            <a:ext cx="2834640" cy="493776"/>
          </a:xfrm>
          <a:prstGeom prst="rect">
            <a:avLst/>
          </a:prstGeom>
          <a:noFill/>
          <a:ln/>
        </p:spPr>
        <p:txBody>
          <a:bodyPr wrap="square" lIns="0" tIns="0" rIns="0" bIns="0" rtlCol="0" anchor="ctr"/>
          <a:lstStyle/>
          <a:p>
            <a:pPr marL="0" indent="0">
              <a:buNone/>
            </a:pPr>
            <a:r>
              <a:rPr lang="en-US" sz="3000" b="1" dirty="0">
                <a:solidFill>
                  <a:srgbClr val="F57C00"/>
                </a:solidFill>
                <a:latin typeface="Calibri" pitchFamily="34" charset="0"/>
                <a:ea typeface="Calibri" pitchFamily="34" charset="-122"/>
                <a:cs typeface="Calibri" pitchFamily="34" charset="-120"/>
              </a:rPr>
              <a:t>75.5%</a:t>
            </a:r>
            <a:endParaRPr lang="en-US" sz="3000" dirty="0"/>
          </a:p>
        </p:txBody>
      </p:sp>
      <p:sp>
        <p:nvSpPr>
          <p:cNvPr id="12" name="Text 9"/>
          <p:cNvSpPr txBox="1"/>
          <p:nvPr/>
        </p:nvSpPr>
        <p:spPr>
          <a:xfrm>
            <a:off x="5715000" y="2980944"/>
            <a:ext cx="2834640" cy="438912"/>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recall for the Declined class</a:t>
            </a:r>
            <a:endParaRPr lang="en-US" sz="1300" dirty="0"/>
          </a:p>
        </p:txBody>
      </p:sp>
      <p:sp>
        <p:nvSpPr>
          <p:cNvPr id="13" name="Text 10"/>
          <p:cNvSpPr txBox="1"/>
          <p:nvPr/>
        </p:nvSpPr>
        <p:spPr>
          <a:xfrm>
            <a:off x="5577840" y="3657600"/>
            <a:ext cx="3108960" cy="731520"/>
          </a:xfrm>
          <a:prstGeom prst="rect">
            <a:avLst/>
          </a:prstGeom>
          <a:noFill/>
          <a:ln/>
        </p:spPr>
        <p:txBody>
          <a:bodyPr wrap="square" lIns="0" tIns="0" rIns="0" bIns="0" rtlCol="0" anchor="t"/>
          <a:lstStyle/>
          <a:p>
            <a:pPr marL="0" indent="0">
              <a:buNone/>
            </a:pPr>
            <a:r>
              <a:rPr lang="en-US" sz="1200" dirty="0">
                <a:solidFill>
                  <a:srgbClr val="5F6B7A"/>
                </a:solidFill>
                <a:latin typeface="Calibri" pitchFamily="34" charset="0"/>
                <a:ea typeface="Calibri" pitchFamily="34" charset="-122"/>
                <a:cs typeface="Calibri" pitchFamily="34" charset="-120"/>
              </a:rPr>
              <a:t>Test set: 2,400 applications, 80/20 stratified split, random_state 42.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Coefficients for a credit analyst</a:t>
            </a:r>
            <a:endParaRPr lang="en-US" sz="2800" dirty="0"/>
          </a:p>
        </p:txBody>
      </p:sp>
      <p:sp>
        <p:nvSpPr>
          <p:cNvPr id="3" name="Shape 1"/>
          <p:cNvSpPr/>
          <p:nvPr/>
        </p:nvSpPr>
        <p:spPr>
          <a:xfrm>
            <a:off x="7315200" y="347472"/>
            <a:ext cx="1371600" cy="329184"/>
          </a:xfrm>
          <a:prstGeom prst="roundRect">
            <a:avLst>
              <a:gd name="adj" fmla="val 27778"/>
            </a:avLst>
          </a:prstGeom>
          <a:solidFill>
            <a:srgbClr val="F57C00"/>
          </a:solidFill>
          <a:ln w="12700">
            <a:solidFill>
              <a:srgbClr val="F57C0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 1</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2316480"/>
        </p:xfrm>
        <a:graphic>
          <a:graphicData uri="http://schemas.openxmlformats.org/drawingml/2006/table">
            <a:tbl>
              <a:tblPr/>
              <a:tblGrid>
                <a:gridCol w="20116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36576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Factor</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Coef.</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What it means</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extLst>
                  <a:ext uri="{0D108BD9-81ED-4DB2-BD59-A6C34878D82A}">
                    <a16:rowId xmlns:a16="http://schemas.microsoft.com/office/drawing/2014/main" val="10000"/>
                  </a:ext>
                </a:extLst>
              </a:tr>
              <a:tr h="36576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FOIR</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+1.22</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Strongest driver: about 0.2 more income on EMIs multiplies decline odds by roughly 3.4</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1"/>
                  </a:ext>
                </a:extLst>
              </a:tr>
              <a:tr h="36576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Credit score</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-1.01</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About 60 more points cuts decline odds to roughly a third</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Delinquencies (24m)</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+0.98</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Each extra missed payment pushes strongly to decline (about 2.7x odds)</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3"/>
                  </a:ext>
                </a:extLst>
              </a:tr>
              <a:tr h="36576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Gig / Contract</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+0.62</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Pushes to decline even after score and FOIR are accounted for</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Salaried</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-0.45</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Pushes towards approval</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5"/>
                  </a:ext>
                </a:extLst>
              </a:tr>
            </a:tbl>
          </a:graphicData>
        </a:graphic>
      </p:graphicFrame>
      <p:sp>
        <p:nvSpPr>
          <p:cNvPr id="6" name="Text 3"/>
          <p:cNvSpPr txBox="1"/>
          <p:nvPr/>
        </p:nvSpPr>
        <p:spPr>
          <a:xfrm>
            <a:off x="457200" y="3657600"/>
            <a:ext cx="8229600" cy="914400"/>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Just outside the top five: new-to-credit (+0.38) and Debt Consolidation purpose (+0.35) lean to decline. Loan-to-income, job tenure, age and city tier barely matter. Features are standardised, so sizes are comparable.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4345093"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Auto-decline threshold: 0.90</a:t>
            </a:r>
            <a:endParaRPr lang="en-US" sz="2800" dirty="0"/>
          </a:p>
        </p:txBody>
      </p:sp>
      <p:sp>
        <p:nvSpPr>
          <p:cNvPr id="3" name="Shape 1"/>
          <p:cNvSpPr/>
          <p:nvPr/>
        </p:nvSpPr>
        <p:spPr>
          <a:xfrm>
            <a:off x="7315200" y="306834"/>
            <a:ext cx="1371600" cy="329184"/>
          </a:xfrm>
          <a:prstGeom prst="roundRect">
            <a:avLst>
              <a:gd name="adj" fmla="val 27778"/>
            </a:avLst>
          </a:prstGeom>
          <a:solidFill>
            <a:srgbClr val="F57C00"/>
          </a:solidFill>
          <a:ln w="12700">
            <a:solidFill>
              <a:srgbClr val="F57C00"/>
            </a:solidFill>
            <a:prstDash val="solid"/>
          </a:ln>
        </p:spPr>
      </p:sp>
      <p:sp>
        <p:nvSpPr>
          <p:cNvPr id="4" name="Text 2"/>
          <p:cNvSpPr txBox="1"/>
          <p:nvPr/>
        </p:nvSpPr>
        <p:spPr>
          <a:xfrm>
            <a:off x="7315200" y="272968"/>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 1</a:t>
            </a:r>
            <a:endParaRPr lang="en-US" sz="1200" dirty="0"/>
          </a:p>
        </p:txBody>
      </p:sp>
      <p:graphicFrame>
        <p:nvGraphicFramePr>
          <p:cNvPr id="5" name="Chart 0"/>
          <p:cNvGraphicFramePr/>
          <p:nvPr>
            <p:extLst>
              <p:ext uri="{D42A27DB-BD31-4B8C-83A1-F6EECF244321}">
                <p14:modId xmlns:p14="http://schemas.microsoft.com/office/powerpoint/2010/main" val="997962220"/>
              </p:ext>
            </p:extLst>
          </p:nvPr>
        </p:nvGraphicFramePr>
        <p:xfrm>
          <a:off x="257387" y="777240"/>
          <a:ext cx="5262880" cy="3435773"/>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760720" y="721369"/>
            <a:ext cx="2788920" cy="926244"/>
          </a:xfrm>
          <a:prstGeom prst="roundRect">
            <a:avLst>
              <a:gd name="adj" fmla="val 8000"/>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7" name="Text 4"/>
          <p:cNvSpPr txBox="1"/>
          <p:nvPr/>
        </p:nvSpPr>
        <p:spPr>
          <a:xfrm>
            <a:off x="5897880" y="812809"/>
            <a:ext cx="2651760" cy="411480"/>
          </a:xfrm>
          <a:prstGeom prst="rect">
            <a:avLst/>
          </a:prstGeom>
          <a:noFill/>
          <a:ln/>
        </p:spPr>
        <p:txBody>
          <a:bodyPr wrap="square" lIns="0" tIns="0" rIns="0" bIns="0" rtlCol="0" anchor="ctr"/>
          <a:lstStyle/>
          <a:p>
            <a:pPr marL="0" indent="0">
              <a:buNone/>
            </a:pPr>
            <a:r>
              <a:rPr lang="en-US" sz="3000" b="1" dirty="0">
                <a:solidFill>
                  <a:srgbClr val="F57C00"/>
                </a:solidFill>
                <a:latin typeface="Calibri" pitchFamily="34" charset="0"/>
                <a:ea typeface="Calibri" pitchFamily="34" charset="-122"/>
                <a:cs typeface="Calibri" pitchFamily="34" charset="-120"/>
              </a:rPr>
              <a:t>4.7%</a:t>
            </a:r>
            <a:endParaRPr lang="en-US" sz="3000" dirty="0"/>
          </a:p>
        </p:txBody>
      </p:sp>
      <p:sp>
        <p:nvSpPr>
          <p:cNvPr id="8" name="Text 5"/>
          <p:cNvSpPr txBox="1"/>
          <p:nvPr/>
        </p:nvSpPr>
        <p:spPr>
          <a:xfrm>
            <a:off x="5897880" y="1224289"/>
            <a:ext cx="2651760" cy="365760"/>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wrongly declined at 0.90, inside the 5% limit</a:t>
            </a:r>
            <a:endParaRPr lang="en-US" sz="1300" dirty="0"/>
          </a:p>
        </p:txBody>
      </p:sp>
      <p:sp>
        <p:nvSpPr>
          <p:cNvPr id="9" name="Shape 6"/>
          <p:cNvSpPr/>
          <p:nvPr/>
        </p:nvSpPr>
        <p:spPr>
          <a:xfrm>
            <a:off x="5760720" y="1818649"/>
            <a:ext cx="2726267" cy="868680"/>
          </a:xfrm>
          <a:prstGeom prst="roundRect">
            <a:avLst>
              <a:gd name="adj" fmla="val 8000"/>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10" name="Text 7"/>
          <p:cNvSpPr txBox="1"/>
          <p:nvPr/>
        </p:nvSpPr>
        <p:spPr>
          <a:xfrm>
            <a:off x="5897880" y="1910089"/>
            <a:ext cx="2651760" cy="411480"/>
          </a:xfrm>
          <a:prstGeom prst="rect">
            <a:avLst/>
          </a:prstGeom>
          <a:noFill/>
          <a:ln/>
        </p:spPr>
        <p:txBody>
          <a:bodyPr wrap="square" lIns="0" tIns="0" rIns="0" bIns="0" rtlCol="0" anchor="ctr"/>
          <a:lstStyle/>
          <a:p>
            <a:pPr marL="0" indent="0">
              <a:buNone/>
            </a:pPr>
            <a:r>
              <a:rPr lang="en-US" sz="3000" b="1" dirty="0">
                <a:solidFill>
                  <a:srgbClr val="1565C0"/>
                </a:solidFill>
                <a:latin typeface="Calibri" pitchFamily="34" charset="0"/>
                <a:ea typeface="Calibri" pitchFamily="34" charset="-122"/>
                <a:cs typeface="Calibri" pitchFamily="34" charset="-120"/>
              </a:rPr>
              <a:t>~456 apps</a:t>
            </a:r>
            <a:endParaRPr lang="en-US" sz="3000" dirty="0"/>
          </a:p>
        </p:txBody>
      </p:sp>
      <p:sp>
        <p:nvSpPr>
          <p:cNvPr id="11" name="Text 8"/>
          <p:cNvSpPr txBox="1"/>
          <p:nvPr/>
        </p:nvSpPr>
        <p:spPr>
          <a:xfrm>
            <a:off x="5897880" y="2321569"/>
            <a:ext cx="2651760" cy="365760"/>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a month leave manual review (15.2%)</a:t>
            </a:r>
            <a:endParaRPr lang="en-US" sz="1300" dirty="0"/>
          </a:p>
        </p:txBody>
      </p:sp>
      <p:sp>
        <p:nvSpPr>
          <p:cNvPr id="12" name="Shape 9"/>
          <p:cNvSpPr/>
          <p:nvPr/>
        </p:nvSpPr>
        <p:spPr>
          <a:xfrm>
            <a:off x="5760720" y="2915929"/>
            <a:ext cx="2788920" cy="789084"/>
          </a:xfrm>
          <a:prstGeom prst="roundRect">
            <a:avLst>
              <a:gd name="adj" fmla="val 8000"/>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13" name="Text 10"/>
          <p:cNvSpPr txBox="1"/>
          <p:nvPr/>
        </p:nvSpPr>
        <p:spPr>
          <a:xfrm>
            <a:off x="5897880" y="3007369"/>
            <a:ext cx="2651760" cy="411480"/>
          </a:xfrm>
          <a:prstGeom prst="rect">
            <a:avLst/>
          </a:prstGeom>
          <a:noFill/>
          <a:ln/>
        </p:spPr>
        <p:txBody>
          <a:bodyPr wrap="square" lIns="0" tIns="0" rIns="0" bIns="0" rtlCol="0" anchor="ctr"/>
          <a:lstStyle/>
          <a:p>
            <a:pPr marL="0" indent="0">
              <a:buNone/>
            </a:pPr>
            <a:r>
              <a:rPr lang="en-US" sz="3000" b="1" dirty="0">
                <a:solidFill>
                  <a:srgbClr val="F57C00"/>
                </a:solidFill>
                <a:latin typeface="Calibri" pitchFamily="34" charset="0"/>
                <a:ea typeface="Calibri" pitchFamily="34" charset="-122"/>
                <a:cs typeface="Calibri" pitchFamily="34" charset="-120"/>
              </a:rPr>
              <a:t>~190 hrs</a:t>
            </a:r>
            <a:endParaRPr lang="en-US" sz="3000" dirty="0"/>
          </a:p>
        </p:txBody>
      </p:sp>
      <p:sp>
        <p:nvSpPr>
          <p:cNvPr id="14" name="Text 11"/>
          <p:cNvSpPr txBox="1"/>
          <p:nvPr/>
        </p:nvSpPr>
        <p:spPr>
          <a:xfrm>
            <a:off x="5897880" y="3418849"/>
            <a:ext cx="2651760" cy="365760"/>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of 1,250 analyst hours freed</a:t>
            </a:r>
            <a:endParaRPr lang="en-US" sz="1300" dirty="0"/>
          </a:p>
        </p:txBody>
      </p:sp>
      <p:sp>
        <p:nvSpPr>
          <p:cNvPr id="15" name="Text 12"/>
          <p:cNvSpPr txBox="1"/>
          <p:nvPr/>
        </p:nvSpPr>
        <p:spPr>
          <a:xfrm>
            <a:off x="5781040" y="3787995"/>
            <a:ext cx="2926080" cy="548640"/>
          </a:xfrm>
          <a:prstGeom prst="rect">
            <a:avLst/>
          </a:prstGeom>
          <a:noFill/>
          <a:ln/>
        </p:spPr>
        <p:txBody>
          <a:bodyPr wrap="square" lIns="0" tIns="0" rIns="0" bIns="0" rtlCol="0" anchor="t"/>
          <a:lstStyle/>
          <a:p>
            <a:pPr marL="0" indent="0">
              <a:buNone/>
            </a:pPr>
            <a:r>
              <a:rPr lang="en-US" sz="1200" dirty="0">
                <a:solidFill>
                  <a:srgbClr val="5F6B7A"/>
                </a:solidFill>
                <a:latin typeface="Calibri" pitchFamily="34" charset="0"/>
                <a:ea typeface="Calibri" pitchFamily="34" charset="-122"/>
                <a:cs typeface="Calibri" pitchFamily="34" charset="-120"/>
              </a:rPr>
              <a:t>0.85 fails the rule at 5.9%. Caution: 4.7% rests on 17 applicants.</a:t>
            </a:r>
            <a:endParaRPr lang="en-US" sz="1200" dirty="0"/>
          </a:p>
        </p:txBody>
      </p:sp>
      <p:sp>
        <p:nvSpPr>
          <p:cNvPr id="17" name="TextBox 16">
            <a:extLst>
              <a:ext uri="{FF2B5EF4-FFF2-40B4-BE49-F238E27FC236}">
                <a16:creationId xmlns:a16="http://schemas.microsoft.com/office/drawing/2014/main" id="{626912C3-B664-7827-8A96-4E105FE90B30}"/>
              </a:ext>
            </a:extLst>
          </p:cNvPr>
          <p:cNvSpPr txBox="1"/>
          <p:nvPr/>
        </p:nvSpPr>
        <p:spPr>
          <a:xfrm>
            <a:off x="582507" y="4255368"/>
            <a:ext cx="8277013" cy="875496"/>
          </a:xfrm>
          <a:prstGeom prst="rect">
            <a:avLst/>
          </a:prstGeom>
          <a:noFill/>
        </p:spPr>
        <p:txBody>
          <a:bodyPr wrap="square">
            <a:spAutoFit/>
          </a:bodyPr>
          <a:lstStyle/>
          <a:p>
            <a:r>
              <a:rPr lang="en-US" sz="1000" b="1" dirty="0"/>
              <a:t>Chosen threshold: 0.90.</a:t>
            </a:r>
            <a:r>
              <a:rPr lang="en-US" sz="1000" dirty="0"/>
              <a:t> It is the lowest cut-off that meets the 5% rule (0.85 misses it at 5.9%), so it auto-declines the most applications while staying within the bank's risk appetite.</a:t>
            </a:r>
          </a:p>
          <a:p>
            <a:r>
              <a:rPr lang="en-US" sz="1000" b="1" dirty="0"/>
              <a:t>Monthly business case:</a:t>
            </a:r>
            <a:r>
              <a:rPr lang="en-US" sz="1000" dirty="0"/>
              <a:t> 15.2% of 3,000 = </a:t>
            </a:r>
            <a:r>
              <a:rPr lang="en-US" sz="1000" b="1" dirty="0"/>
              <a:t>about 456 applications a month</a:t>
            </a:r>
            <a:r>
              <a:rPr lang="en-US" sz="1000" dirty="0"/>
              <a:t> no longer need a manual review, which frees </a:t>
            </a:r>
            <a:r>
              <a:rPr lang="en-US" sz="1000" b="1" dirty="0"/>
              <a:t>about 190 of 1,250 analyst hours </a:t>
            </a:r>
            <a:r>
              <a:rPr lang="en-US" sz="1000" dirty="0"/>
              <a:t>a month (25 minutes × 456).</a:t>
            </a:r>
          </a:p>
          <a:p>
            <a:pPr>
              <a:lnSpc>
                <a:spcPts val="1425"/>
              </a:lnSpc>
              <a:buNone/>
            </a:pPr>
            <a:endParaRPr lang="en-US" sz="1000" b="0" dirty="0">
              <a:solidFill>
                <a:srgbClr val="FFFFFF"/>
              </a:solidFill>
              <a:effectLst/>
              <a:latin typeface="Consolas" panose="020B0609020204030204" pitchFamily="49"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Threshold table (test set)</a:t>
            </a:r>
            <a:endParaRPr lang="en-US" sz="2800" dirty="0"/>
          </a:p>
        </p:txBody>
      </p:sp>
      <p:sp>
        <p:nvSpPr>
          <p:cNvPr id="3" name="Shape 1"/>
          <p:cNvSpPr/>
          <p:nvPr/>
        </p:nvSpPr>
        <p:spPr>
          <a:xfrm>
            <a:off x="7315200" y="347472"/>
            <a:ext cx="1371600" cy="329184"/>
          </a:xfrm>
          <a:prstGeom prst="roundRect">
            <a:avLst>
              <a:gd name="adj" fmla="val 27778"/>
            </a:avLst>
          </a:prstGeom>
          <a:solidFill>
            <a:srgbClr val="F57C00"/>
          </a:solidFill>
          <a:ln w="12700">
            <a:solidFill>
              <a:srgbClr val="F57C0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 1</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292608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36576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P(decline) cut-off</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 auto-declined</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Applications</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 wrongly declined</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Wrongly declined</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extLst>
                  <a:ext uri="{0D108BD9-81ED-4DB2-BD59-A6C34878D82A}">
                    <a16:rowId xmlns:a16="http://schemas.microsoft.com/office/drawing/2014/main" val="10000"/>
                  </a:ext>
                </a:extLst>
              </a:tr>
              <a:tr h="36576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44.9%</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1,077</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20.9%</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225</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1"/>
                  </a:ext>
                </a:extLst>
              </a:tr>
              <a:tr h="36576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37.6%</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902</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16.9%</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152</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0.70</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30.8%</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738</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12.1%</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89</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3"/>
                  </a:ext>
                </a:extLst>
              </a:tr>
              <a:tr h="36576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0.80</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23.5%</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563</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7.1%</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0.85</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19.7%</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472</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5.9% (over limit)</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28</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5"/>
                  </a:ext>
                </a:extLst>
              </a:tr>
              <a:tr h="36576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E0B2"/>
                    </a:solidFill>
                  </a:tcPr>
                </a:tc>
                <a:tc>
                  <a:txBody>
                    <a:bodyPr/>
                    <a:lstStyle/>
                    <a:p>
                      <a:pPr marL="0" indent="0" algn="ctr">
                        <a:buNone/>
                      </a:pPr>
                      <a:r>
                        <a:rPr lang="en-US" sz="1300" b="1" dirty="0">
                          <a:solidFill>
                            <a:srgbClr val="111111"/>
                          </a:solidFill>
                          <a:latin typeface="Calibri" pitchFamily="34" charset="0"/>
                          <a:ea typeface="Calibri" pitchFamily="34" charset="-122"/>
                          <a:cs typeface="Calibri" pitchFamily="34" charset="-120"/>
                        </a:rPr>
                        <a:t>15.2%</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E0B2"/>
                    </a:solidFill>
                  </a:tcPr>
                </a:tc>
                <a:tc>
                  <a:txBody>
                    <a:bodyPr/>
                    <a:lstStyle/>
                    <a:p>
                      <a:pPr marL="0" indent="0" algn="ctr">
                        <a:buNone/>
                      </a:pPr>
                      <a:r>
                        <a:rPr lang="en-US" sz="1300" b="1" dirty="0">
                          <a:solidFill>
                            <a:srgbClr val="111111"/>
                          </a:solidFill>
                          <a:latin typeface="Calibri" pitchFamily="34" charset="0"/>
                          <a:ea typeface="Calibri" pitchFamily="34" charset="-122"/>
                          <a:cs typeface="Calibri" pitchFamily="34" charset="-120"/>
                        </a:rPr>
                        <a:t>365</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E0B2"/>
                    </a:solidFill>
                  </a:tcPr>
                </a:tc>
                <a:tc>
                  <a:txBody>
                    <a:bodyPr/>
                    <a:lstStyle/>
                    <a:p>
                      <a:pPr marL="0" indent="0" algn="ctr">
                        <a:buNone/>
                      </a:pPr>
                      <a:r>
                        <a:rPr lang="en-US" sz="1300" b="1" dirty="0">
                          <a:solidFill>
                            <a:srgbClr val="111111"/>
                          </a:solidFill>
                          <a:latin typeface="Calibri" pitchFamily="34" charset="0"/>
                          <a:ea typeface="Calibri" pitchFamily="34" charset="-122"/>
                          <a:cs typeface="Calibri" pitchFamily="34" charset="-120"/>
                        </a:rPr>
                        <a:t>4.7% (within limit)</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E0B2"/>
                    </a:solidFill>
                  </a:tcPr>
                </a:tc>
                <a:tc>
                  <a:txBody>
                    <a:bodyPr/>
                    <a:lstStyle/>
                    <a:p>
                      <a:pPr marL="0" indent="0" algn="ctr">
                        <a:buNone/>
                      </a:pPr>
                      <a:r>
                        <a:rPr lang="en-US" sz="1300" b="1" dirty="0">
                          <a:solidFill>
                            <a:srgbClr val="111111"/>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E0B2"/>
                    </a:solidFill>
                  </a:tcPr>
                </a:tc>
                <a:extLst>
                  <a:ext uri="{0D108BD9-81ED-4DB2-BD59-A6C34878D82A}">
                    <a16:rowId xmlns:a16="http://schemas.microsoft.com/office/drawing/2014/main" val="10006"/>
                  </a:ext>
                </a:extLst>
              </a:tr>
              <a:tr h="36576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0.95</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240</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7"/>
                  </a:ext>
                </a:extLst>
              </a:tr>
            </a:tbl>
          </a:graphicData>
        </a:graphic>
      </p:graphicFrame>
      <p:sp>
        <p:nvSpPr>
          <p:cNvPr id="6" name="Text 3"/>
          <p:cNvSpPr txBox="1"/>
          <p:nvPr/>
        </p:nvSpPr>
        <p:spPr>
          <a:xfrm>
            <a:off x="457200" y="4114800"/>
            <a:ext cx="8229600" cy="640080"/>
          </a:xfrm>
          <a:prstGeom prst="rect">
            <a:avLst/>
          </a:prstGeom>
          <a:noFill/>
          <a:ln/>
        </p:spPr>
        <p:txBody>
          <a:bodyPr wrap="square" lIns="0" tIns="0" rIns="0" bIns="0" rtlCol="0" anchor="t"/>
          <a:lstStyle/>
          <a:p>
            <a:pPr marL="0" indent="0">
              <a:buNone/>
            </a:pPr>
            <a:r>
              <a:rPr lang="en-US" sz="1400" dirty="0">
                <a:solidFill>
                  <a:srgbClr val="111111"/>
                </a:solidFill>
                <a:latin typeface="Calibri" pitchFamily="34" charset="0"/>
                <a:ea typeface="Calibri" pitchFamily="34" charset="-122"/>
                <a:cs typeface="Calibri" pitchFamily="34" charset="-120"/>
              </a:rPr>
              <a:t>0.90 is the lowest cut-off that meets the 5% rule, so it auto-declines the most while staying inside risk appetite. The 4.7% rests on only 17 applicants.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Fairness check and interim briefing</a:t>
            </a:r>
            <a:endParaRPr lang="en-US" sz="2800" dirty="0"/>
          </a:p>
        </p:txBody>
      </p:sp>
      <p:sp>
        <p:nvSpPr>
          <p:cNvPr id="3" name="Shape 1"/>
          <p:cNvSpPr/>
          <p:nvPr/>
        </p:nvSpPr>
        <p:spPr>
          <a:xfrm>
            <a:off x="7315200" y="347472"/>
            <a:ext cx="1371600" cy="329184"/>
          </a:xfrm>
          <a:prstGeom prst="roundRect">
            <a:avLst>
              <a:gd name="adj" fmla="val 27778"/>
            </a:avLst>
          </a:prstGeom>
          <a:solidFill>
            <a:srgbClr val="F57C00"/>
          </a:solidFill>
          <a:ln w="12700">
            <a:solidFill>
              <a:srgbClr val="F57C0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 1</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206240" cy="2057400"/>
        </p:xfrm>
        <a:graphic>
          <a:graphicData uri="http://schemas.openxmlformats.org/drawingml/2006/table">
            <a:tbl>
              <a:tblPr/>
              <a:tblGrid>
                <a:gridCol w="20116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411480">
                <a:tc>
                  <a:txBody>
                    <a:bodyPr/>
                    <a:lstStyle/>
                    <a:p>
                      <a:pPr marL="0" indent="0" algn="l">
                        <a:buNone/>
                      </a:pPr>
                      <a:endParaRPr lang="en-US" sz="1300" dirty="0">
                        <a:latin typeface="Calibri" charset="0"/>
                        <a:ea typeface="Calibri" charset="0"/>
                        <a:cs typeface="Calibri" charset="0"/>
                      </a:endParaRPr>
                    </a:p>
                  </a:txBody>
                  <a:tcP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Female</a:t>
                      </a:r>
                      <a:endParaRPr lang="en-US" sz="1300" dirty="0">
                        <a:latin typeface="Calibri" charset="0"/>
                        <a:ea typeface="Calibri" charset="0"/>
                        <a:cs typeface="Calibri" charset="0"/>
                      </a:endParaRPr>
                    </a:p>
                  </a:txBody>
                  <a:tcP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Male</a:t>
                      </a:r>
                      <a:endParaRPr lang="en-US" sz="1300" dirty="0">
                        <a:latin typeface="Calibri" charset="0"/>
                        <a:ea typeface="Calibri" charset="0"/>
                        <a:cs typeface="Calibri" charset="0"/>
                      </a:endParaRPr>
                    </a:p>
                  </a:txBody>
                  <a:tcP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extLst>
                  <a:ext uri="{0D108BD9-81ED-4DB2-BD59-A6C34878D82A}">
                    <a16:rowId xmlns:a16="http://schemas.microsoft.com/office/drawing/2014/main" val="10000"/>
                  </a:ext>
                </a:extLst>
              </a:tr>
              <a:tr h="41148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Historical approval</a:t>
                      </a:r>
                      <a:endParaRPr lang="en-US" sz="1300" dirty="0">
                        <a:latin typeface="Calibri" charset="0"/>
                        <a:ea typeface="Calibri" charset="0"/>
                        <a:cs typeface="Calibri" charset="0"/>
                      </a:endParaRPr>
                    </a:p>
                  </a:txBody>
                  <a:tcP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50.4%</a:t>
                      </a:r>
                      <a:endParaRPr lang="en-US" sz="1300" dirty="0">
                        <a:latin typeface="Calibri" charset="0"/>
                        <a:ea typeface="Calibri" charset="0"/>
                        <a:cs typeface="Calibri" charset="0"/>
                      </a:endParaRPr>
                    </a:p>
                  </a:txBody>
                  <a:tcP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54.1%</a:t>
                      </a:r>
                      <a:endParaRPr lang="en-US" sz="1300" dirty="0">
                        <a:latin typeface="Calibri" charset="0"/>
                        <a:ea typeface="Calibri" charset="0"/>
                        <a:cs typeface="Calibri" charset="0"/>
                      </a:endParaRPr>
                    </a:p>
                  </a:txBody>
                  <a:tcP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1"/>
                  </a:ext>
                </a:extLst>
              </a:tr>
              <a:tr h="41148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Median income</a:t>
                      </a:r>
                      <a:endParaRPr lang="en-US" sz="1300" dirty="0">
                        <a:latin typeface="Calibri" charset="0"/>
                        <a:ea typeface="Calibri" charset="0"/>
                        <a:cs typeface="Calibri" charset="0"/>
                      </a:endParaRPr>
                    </a:p>
                  </a:txBody>
                  <a:tcP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45,000</a:t>
                      </a:r>
                      <a:endParaRPr lang="en-US" sz="1300" dirty="0">
                        <a:latin typeface="Calibri" charset="0"/>
                        <a:ea typeface="Calibri" charset="0"/>
                        <a:cs typeface="Calibri" charset="0"/>
                      </a:endParaRPr>
                    </a:p>
                  </a:txBody>
                  <a:tcP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55,000</a:t>
                      </a:r>
                      <a:endParaRPr lang="en-US" sz="1300" dirty="0">
                        <a:latin typeface="Calibri" charset="0"/>
                        <a:ea typeface="Calibri" charset="0"/>
                        <a:cs typeface="Calibri" charset="0"/>
                      </a:endParaRPr>
                    </a:p>
                  </a:txBody>
                  <a:tcP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148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Gig / Contract share</a:t>
                      </a:r>
                      <a:endParaRPr lang="en-US" sz="1300" dirty="0">
                        <a:latin typeface="Calibri" charset="0"/>
                        <a:ea typeface="Calibri" charset="0"/>
                        <a:cs typeface="Calibri" charset="0"/>
                      </a:endParaRPr>
                    </a:p>
                  </a:txBody>
                  <a:tcP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21.4%</a:t>
                      </a:r>
                      <a:endParaRPr lang="en-US" sz="1300" dirty="0">
                        <a:latin typeface="Calibri" charset="0"/>
                        <a:ea typeface="Calibri" charset="0"/>
                        <a:cs typeface="Calibri" charset="0"/>
                      </a:endParaRPr>
                    </a:p>
                  </a:txBody>
                  <a:tcP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11.6%</a:t>
                      </a:r>
                      <a:endParaRPr lang="en-US" sz="1300" dirty="0">
                        <a:latin typeface="Calibri" charset="0"/>
                        <a:ea typeface="Calibri" charset="0"/>
                        <a:cs typeface="Calibri" charset="0"/>
                      </a:endParaRPr>
                    </a:p>
                  </a:txBody>
                  <a:tcP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3"/>
                  </a:ext>
                </a:extLst>
              </a:tr>
              <a:tr h="41148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Model auto-decline (0.90)</a:t>
                      </a:r>
                      <a:endParaRPr lang="en-US" sz="1300" dirty="0">
                        <a:latin typeface="Calibri" charset="0"/>
                        <a:ea typeface="Calibri" charset="0"/>
                        <a:cs typeface="Calibri" charset="0"/>
                      </a:endParaRPr>
                    </a:p>
                  </a:txBody>
                  <a:tcP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15.6%</a:t>
                      </a:r>
                      <a:endParaRPr lang="en-US" sz="1300" dirty="0">
                        <a:latin typeface="Calibri" charset="0"/>
                        <a:ea typeface="Calibri" charset="0"/>
                        <a:cs typeface="Calibri" charset="0"/>
                      </a:endParaRPr>
                    </a:p>
                  </a:txBody>
                  <a:tcP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15.0%</a:t>
                      </a:r>
                      <a:endParaRPr lang="en-US" sz="1300" dirty="0">
                        <a:latin typeface="Calibri" charset="0"/>
                        <a:ea typeface="Calibri" charset="0"/>
                        <a:cs typeface="Calibri" charset="0"/>
                      </a:endParaRPr>
                    </a:p>
                  </a:txBody>
                  <a:tcP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457200" y="3291840"/>
            <a:ext cx="4206240" cy="14630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111111"/>
                </a:solidFill>
                <a:latin typeface="Calibri" pitchFamily="34" charset="0"/>
                <a:ea typeface="Calibri" pitchFamily="34" charset="-122"/>
                <a:cs typeface="Calibri" pitchFamily="34" charset="-120"/>
              </a:rPr>
              <a:t>The gap is largely mix: women are almost twice as likely to be gig workers</a:t>
            </a:r>
            <a:endParaRPr lang="en-US" sz="1300" dirty="0"/>
          </a:p>
          <a:p>
            <a:pPr marL="342900" indent="-342900">
              <a:spcAft>
                <a:spcPts val="400"/>
              </a:spcAft>
              <a:buSzPct val="100000"/>
              <a:buChar char="•"/>
            </a:pPr>
            <a:r>
              <a:rPr lang="en-US" sz="1300" dirty="0">
                <a:solidFill>
                  <a:srgbClr val="111111"/>
                </a:solidFill>
                <a:latin typeface="Calibri" pitchFamily="34" charset="0"/>
                <a:ea typeface="Calibri" pitchFamily="34" charset="-122"/>
                <a:cs typeface="Calibri" pitchFamily="34" charset="-120"/>
              </a:rPr>
              <a:t>The model does not widen it (0.6 pt vs 3.9 pt historical)</a:t>
            </a:r>
            <a:endParaRPr lang="en-US" sz="1300" dirty="0"/>
          </a:p>
          <a:p>
            <a:pPr marL="342900" indent="-342900">
              <a:spcAft>
                <a:spcPts val="400"/>
              </a:spcAft>
              <a:buSzPct val="100000"/>
              <a:buChar char="•"/>
            </a:pPr>
            <a:r>
              <a:rPr lang="en-US" sz="1300" dirty="0">
                <a:solidFill>
                  <a:srgbClr val="111111"/>
                </a:solidFill>
                <a:latin typeface="Calibri" pitchFamily="34" charset="0"/>
                <a:ea typeface="Calibri" pitchFamily="34" charset="-122"/>
                <a:cs typeface="Calibri" pitchFamily="34" charset="-120"/>
              </a:rPr>
              <a:t>Gender is never a feature, but employment type and income act as proxies, so monitor outcomes by gender</a:t>
            </a:r>
            <a:endParaRPr lang="en-US" sz="1300" dirty="0"/>
          </a:p>
        </p:txBody>
      </p:sp>
      <p:sp>
        <p:nvSpPr>
          <p:cNvPr id="7" name="Shape 4"/>
          <p:cNvSpPr/>
          <p:nvPr/>
        </p:nvSpPr>
        <p:spPr>
          <a:xfrm>
            <a:off x="5029200" y="1097280"/>
            <a:ext cx="3657600" cy="3566160"/>
          </a:xfrm>
          <a:prstGeom prst="roundRect">
            <a:avLst>
              <a:gd name="adj" fmla="val 2051"/>
            </a:avLst>
          </a:prstGeom>
          <a:solidFill>
            <a:srgbClr val="111111"/>
          </a:solidFill>
          <a:ln w="12700">
            <a:solidFill>
              <a:srgbClr val="111111"/>
            </a:solidFill>
            <a:prstDash val="solid"/>
          </a:ln>
        </p:spPr>
      </p:sp>
      <p:sp>
        <p:nvSpPr>
          <p:cNvPr id="8" name="Text 5"/>
          <p:cNvSpPr txBox="1"/>
          <p:nvPr/>
        </p:nvSpPr>
        <p:spPr>
          <a:xfrm>
            <a:off x="5257800" y="1280160"/>
            <a:ext cx="3200400" cy="365760"/>
          </a:xfrm>
          <a:prstGeom prst="rect">
            <a:avLst/>
          </a:prstGeom>
          <a:noFill/>
          <a:ln/>
        </p:spPr>
        <p:txBody>
          <a:bodyPr wrap="square" lIns="0" tIns="0" rIns="0" bIns="0" rtlCol="0" anchor="t"/>
          <a:lstStyle/>
          <a:p>
            <a:pPr marL="0" indent="0">
              <a:buNone/>
            </a:pPr>
            <a:r>
              <a:rPr lang="en-US" sz="1800" b="1" dirty="0">
                <a:solidFill>
                  <a:srgbClr val="F57C00"/>
                </a:solidFill>
                <a:latin typeface="Calibri" pitchFamily="34" charset="0"/>
                <a:ea typeface="Calibri" pitchFamily="34" charset="-122"/>
                <a:cs typeface="Calibri" pitchFamily="34" charset="-120"/>
              </a:rPr>
              <a:t>Interim briefing</a:t>
            </a:r>
            <a:endParaRPr lang="en-US" sz="1800" dirty="0"/>
          </a:p>
        </p:txBody>
      </p:sp>
      <p:sp>
        <p:nvSpPr>
          <p:cNvPr id="9" name="Text 6"/>
          <p:cNvSpPr txBox="1"/>
          <p:nvPr/>
        </p:nvSpPr>
        <p:spPr>
          <a:xfrm>
            <a:off x="5257800" y="1783080"/>
            <a:ext cx="3200400" cy="274320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Logistic regression at P(decline) ≥ 0.90 frees about 456 applications and 190 hours a month.</a:t>
            </a:r>
            <a:endParaRPr lang="en-US" sz="1400" dirty="0"/>
          </a:p>
          <a:p>
            <a:pPr marL="0" indent="0">
              <a:buNone/>
            </a:pPr>
            <a:endParaRPr lang="en-US" sz="1400" dirty="0"/>
          </a:p>
          <a:p>
            <a:pPr marL="0" indent="0">
              <a:buNone/>
            </a:pPr>
            <a:r>
              <a:rPr lang="en-US" sz="1400" dirty="0">
                <a:solidFill>
                  <a:srgbClr val="FFFFFF"/>
                </a:solidFill>
                <a:latin typeface="Calibri" pitchFamily="34" charset="0"/>
                <a:ea typeface="Calibri" pitchFamily="34" charset="-122"/>
                <a:cs typeface="Calibri" pitchFamily="34" charset="-120"/>
              </a:rPr>
              <a:t>Weakness for Part 2: it can only decline. Nothing for clear approvals, so most of the queue is untouched.</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6035040" y="822960"/>
            <a:ext cx="2926080" cy="2926080"/>
          </a:xfrm>
          <a:prstGeom prst="ellipse">
            <a:avLst/>
          </a:prstGeom>
          <a:solidFill>
            <a:srgbClr val="1565C0"/>
          </a:solidFill>
          <a:ln w="12700">
            <a:solidFill>
              <a:srgbClr val="1565C0"/>
            </a:solidFill>
            <a:prstDash val="solid"/>
          </a:ln>
        </p:spPr>
      </p:sp>
      <p:sp>
        <p:nvSpPr>
          <p:cNvPr id="3" name="Text 1"/>
          <p:cNvSpPr txBox="1"/>
          <p:nvPr/>
        </p:nvSpPr>
        <p:spPr>
          <a:xfrm>
            <a:off x="6035040" y="822960"/>
            <a:ext cx="2926080" cy="2926080"/>
          </a:xfrm>
          <a:prstGeom prst="rect">
            <a:avLst/>
          </a:prstGeom>
          <a:noFill/>
          <a:ln/>
        </p:spPr>
        <p:txBody>
          <a:bodyPr wrap="square" lIns="0" tIns="0" rIns="0" bIns="0" rtlCol="0" anchor="ctr"/>
          <a:lstStyle/>
          <a:p>
            <a:pPr marL="0" indent="0" algn="ctr">
              <a:buNone/>
            </a:pPr>
            <a:r>
              <a:rPr lang="en-US" sz="11000" b="1" dirty="0">
                <a:solidFill>
                  <a:srgbClr val="FFFFFF"/>
                </a:solidFill>
                <a:latin typeface="Calibri" pitchFamily="34" charset="0"/>
                <a:ea typeface="Calibri" pitchFamily="34" charset="-122"/>
                <a:cs typeface="Calibri" pitchFamily="34" charset="-120"/>
              </a:rPr>
              <a:t>2</a:t>
            </a:r>
            <a:endParaRPr lang="en-US" sz="11000" dirty="0"/>
          </a:p>
        </p:txBody>
      </p:sp>
      <p:sp>
        <p:nvSpPr>
          <p:cNvPr id="4" name="Text 2"/>
          <p:cNvSpPr txBox="1"/>
          <p:nvPr/>
        </p:nvSpPr>
        <p:spPr>
          <a:xfrm>
            <a:off x="548640" y="1280160"/>
            <a:ext cx="4572000" cy="365760"/>
          </a:xfrm>
          <a:prstGeom prst="rect">
            <a:avLst/>
          </a:prstGeom>
          <a:noFill/>
          <a:ln/>
        </p:spPr>
        <p:txBody>
          <a:bodyPr wrap="square" lIns="0" tIns="0" rIns="0" bIns="0" rtlCol="0" anchor="t"/>
          <a:lstStyle/>
          <a:p>
            <a:pPr marL="0" indent="0">
              <a:buNone/>
            </a:pPr>
            <a:r>
              <a:rPr lang="en-US" sz="1600" b="1" dirty="0">
                <a:solidFill>
                  <a:srgbClr val="64B5F6"/>
                </a:solidFill>
                <a:latin typeface="Calibri" pitchFamily="34" charset="0"/>
                <a:ea typeface="Calibri" pitchFamily="34" charset="-122"/>
                <a:cs typeface="Calibri" pitchFamily="34" charset="-120"/>
              </a:rPr>
              <a:t>PART 2</a:t>
            </a:r>
            <a:endParaRPr lang="en-US" sz="1600" dirty="0"/>
          </a:p>
        </p:txBody>
      </p:sp>
      <p:sp>
        <p:nvSpPr>
          <p:cNvPr id="5" name="Text 3"/>
          <p:cNvSpPr txBox="1"/>
          <p:nvPr/>
        </p:nvSpPr>
        <p:spPr>
          <a:xfrm>
            <a:off x="548640" y="1737360"/>
            <a:ext cx="5120640" cy="109728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Model Comparison &amp; Two-Lane Design</a:t>
            </a:r>
            <a:endParaRPr lang="en-US" sz="3400" dirty="0"/>
          </a:p>
        </p:txBody>
      </p:sp>
      <p:sp>
        <p:nvSpPr>
          <p:cNvPr id="6" name="Text 4"/>
          <p:cNvSpPr txBox="1"/>
          <p:nvPr/>
        </p:nvSpPr>
        <p:spPr>
          <a:xfrm>
            <a:off x="548640" y="3017520"/>
            <a:ext cx="5120640" cy="731520"/>
          </a:xfrm>
          <a:prstGeom prst="rect">
            <a:avLst/>
          </a:prstGeom>
          <a:noFill/>
          <a:ln/>
        </p:spPr>
        <p:txBody>
          <a:bodyPr wrap="square" lIns="0" tIns="0" rIns="0" bIns="0" rtlCol="0" anchor="t"/>
          <a:lstStyle/>
          <a:p>
            <a:pPr marL="0" indent="0">
              <a:buNone/>
            </a:pPr>
            <a:r>
              <a:rPr lang="en-US" sz="1500" dirty="0">
                <a:solidFill>
                  <a:srgbClr val="D0D5DB"/>
                </a:solidFill>
                <a:latin typeface="Calibri" pitchFamily="34" charset="0"/>
                <a:ea typeface="Calibri" pitchFamily="34" charset="-122"/>
                <a:cs typeface="Calibri" pitchFamily="34" charset="-120"/>
              </a:rPr>
              <a:t>Steps 5.8–5.11: package a pipeline, compare four models, add a fast-track lane, and make the recommendation</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Pipeline reproduces the baseline</a:t>
            </a:r>
            <a:endParaRPr lang="en-US" sz="2800" dirty="0"/>
          </a:p>
        </p:txBody>
      </p:sp>
      <p:sp>
        <p:nvSpPr>
          <p:cNvPr id="3" name="Shape 1"/>
          <p:cNvSpPr/>
          <p:nvPr/>
        </p:nvSpPr>
        <p:spPr>
          <a:xfrm>
            <a:off x="7315200" y="347472"/>
            <a:ext cx="1371600" cy="329184"/>
          </a:xfrm>
          <a:prstGeom prst="roundRect">
            <a:avLst>
              <a:gd name="adj" fmla="val 27778"/>
            </a:avLst>
          </a:prstGeom>
          <a:solidFill>
            <a:srgbClr val="1565C0"/>
          </a:solidFill>
          <a:ln w="12700">
            <a:solidFill>
              <a:srgbClr val="1565C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 2</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3931920" cy="1828800"/>
        </p:xfrm>
        <a:graphic>
          <a:graphicData uri="http://schemas.openxmlformats.org/drawingml/2006/table">
            <a:tbl>
              <a:tblPr/>
              <a:tblGrid>
                <a:gridCol w="17373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6576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Step 5.4</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Pipeline</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extLst>
                  <a:ext uri="{0D108BD9-81ED-4DB2-BD59-A6C34878D82A}">
                    <a16:rowId xmlns:a16="http://schemas.microsoft.com/office/drawing/2014/main" val="10000"/>
                  </a:ext>
                </a:extLst>
              </a:tr>
              <a:tr h="365760">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0.7908</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0.7904</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1"/>
                  </a:ext>
                </a:extLst>
              </a:tr>
              <a:tr h="365760">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Precision (Declined)</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0.7911</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0.7909</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Recall (Declined)</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0.7547</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0.7538</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3"/>
                  </a:ext>
                </a:extLst>
              </a:tr>
              <a:tr h="365760">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Errors (FP / FN)</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225 / 277</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225 / 278</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4663440" y="1005840"/>
          <a:ext cx="4023360" cy="2194560"/>
        </p:xfrm>
        <a:graphic>
          <a:graphicData uri="http://schemas.openxmlformats.org/drawingml/2006/table">
            <a:tbl>
              <a:tblPr/>
              <a:tblGrid>
                <a:gridCol w="137160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6576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Latest application</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Score</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Actual</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P(decline)</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extLst>
                  <a:ext uri="{0D108BD9-81ED-4DB2-BD59-A6C34878D82A}">
                    <a16:rowId xmlns:a16="http://schemas.microsoft.com/office/drawing/2014/main" val="10000"/>
                  </a:ext>
                </a:extLst>
              </a:tr>
              <a:tr h="365760">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APP111996</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684</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Declined</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0.526</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1"/>
                  </a:ext>
                </a:extLst>
              </a:tr>
              <a:tr h="365760">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APP111997</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743</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Declined</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0.847</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APP111998</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666</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Approved</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0.571</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3"/>
                  </a:ext>
                </a:extLst>
              </a:tr>
              <a:tr h="365760">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APP111999</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685</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Approved</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0.247</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APP112000</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655</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Approved</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0.404</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5"/>
                  </a:ext>
                </a:extLst>
              </a:tr>
            </a:tbl>
          </a:graphicData>
        </a:graphic>
      </p:graphicFrame>
      <p:sp>
        <p:nvSpPr>
          <p:cNvPr id="7" name="Text 3"/>
          <p:cNvSpPr txBox="1"/>
          <p:nvPr/>
        </p:nvSpPr>
        <p:spPr>
          <a:xfrm>
            <a:off x="457200" y="3246120"/>
            <a:ext cx="8229600" cy="1371600"/>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One applicant differs because the pipeline learns income medians from training rows only (Business Owner 71,000 vs 69,500 on all data). That is the leakage point: all preparation is learned on training data and re-applied identically to new raw rows, so nothing from test or future data leaks in, and one file can be versioned, audited and deployed.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Cross-validation results</a:t>
            </a:r>
            <a:endParaRPr lang="en-US" sz="2800" dirty="0"/>
          </a:p>
        </p:txBody>
      </p:sp>
      <p:sp>
        <p:nvSpPr>
          <p:cNvPr id="3" name="Shape 1"/>
          <p:cNvSpPr/>
          <p:nvPr/>
        </p:nvSpPr>
        <p:spPr>
          <a:xfrm>
            <a:off x="7315200" y="347472"/>
            <a:ext cx="1371600" cy="329184"/>
          </a:xfrm>
          <a:prstGeom prst="roundRect">
            <a:avLst>
              <a:gd name="adj" fmla="val 27778"/>
            </a:avLst>
          </a:prstGeom>
          <a:solidFill>
            <a:srgbClr val="1565C0"/>
          </a:solidFill>
          <a:ln w="12700">
            <a:solidFill>
              <a:srgbClr val="1565C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 2</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1828800"/>
        </p:xfrm>
        <a:graphic>
          <a:graphicData uri="http://schemas.openxmlformats.org/drawingml/2006/table">
            <a:tbl>
              <a:tblPr/>
              <a:tblGrid>
                <a:gridCol w="29260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tblGrid>
              <a:tr h="36576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Model (5-fold, train only)</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ROC-AUC</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extLst>
                  <a:ext uri="{0D108BD9-81ED-4DB2-BD59-A6C34878D82A}">
                    <a16:rowId xmlns:a16="http://schemas.microsoft.com/office/drawing/2014/main" val="10000"/>
                  </a:ext>
                </a:extLst>
              </a:tr>
              <a:tr h="36576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0.868</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77.5%</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78.0%</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72.7%</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1"/>
                  </a:ext>
                </a:extLst>
              </a:tr>
              <a:tr h="36576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Decision Tree (depth 5)</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0.863</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78.2%</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80.8%</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70.5%</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0.884</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79.5%</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79.6%</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300" dirty="0">
                          <a:solidFill>
                            <a:srgbClr val="111111"/>
                          </a:solidFill>
                          <a:latin typeface="Calibri" pitchFamily="34" charset="0"/>
                          <a:ea typeface="Calibri" pitchFamily="34" charset="-122"/>
                          <a:cs typeface="Calibri" pitchFamily="34" charset="-120"/>
                        </a:rPr>
                        <a:t>75.9%</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3"/>
                  </a:ext>
                </a:extLst>
              </a:tr>
              <a:tr h="365760">
                <a:tc>
                  <a:txBody>
                    <a:bodyPr/>
                    <a:lstStyle/>
                    <a:p>
                      <a:pPr marL="0" indent="0" algn="l">
                        <a:buNone/>
                      </a:pPr>
                      <a:r>
                        <a:rPr lang="en-US" sz="1300" b="1" dirty="0">
                          <a:solidFill>
                            <a:srgbClr val="111111"/>
                          </a:solidFill>
                          <a:latin typeface="Calibri" pitchFamily="34" charset="0"/>
                          <a:ea typeface="Calibri" pitchFamily="34" charset="-122"/>
                          <a:cs typeface="Calibri" pitchFamily="34" charset="-120"/>
                        </a:rPr>
                        <a:t>Gradient Boosting</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E0B2"/>
                    </a:solidFill>
                  </a:tcPr>
                </a:tc>
                <a:tc>
                  <a:txBody>
                    <a:bodyPr/>
                    <a:lstStyle/>
                    <a:p>
                      <a:pPr marL="0" indent="0" algn="ctr">
                        <a:buNone/>
                      </a:pPr>
                      <a:r>
                        <a:rPr lang="en-US" sz="1300" b="1" dirty="0">
                          <a:solidFill>
                            <a:srgbClr val="111111"/>
                          </a:solidFill>
                          <a:latin typeface="Calibri" pitchFamily="34" charset="0"/>
                          <a:ea typeface="Calibri" pitchFamily="34" charset="-122"/>
                          <a:cs typeface="Calibri" pitchFamily="34" charset="-120"/>
                        </a:rPr>
                        <a:t>0.889</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E0B2"/>
                    </a:solidFill>
                  </a:tcPr>
                </a:tc>
                <a:tc>
                  <a:txBody>
                    <a:bodyPr/>
                    <a:lstStyle/>
                    <a:p>
                      <a:pPr marL="0" indent="0" algn="ctr">
                        <a:buNone/>
                      </a:pPr>
                      <a:r>
                        <a:rPr lang="en-US" sz="1300" b="1" dirty="0">
                          <a:solidFill>
                            <a:srgbClr val="111111"/>
                          </a:solidFill>
                          <a:latin typeface="Calibri" pitchFamily="34" charset="0"/>
                          <a:ea typeface="Calibri" pitchFamily="34" charset="-122"/>
                          <a:cs typeface="Calibri" pitchFamily="34" charset="-120"/>
                        </a:rPr>
                        <a:t>80.0%</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E0B2"/>
                    </a:solidFill>
                  </a:tcPr>
                </a:tc>
                <a:tc>
                  <a:txBody>
                    <a:bodyPr/>
                    <a:lstStyle/>
                    <a:p>
                      <a:pPr marL="0" indent="0" algn="ctr">
                        <a:buNone/>
                      </a:pPr>
                      <a:r>
                        <a:rPr lang="en-US" sz="1300" b="1" dirty="0">
                          <a:solidFill>
                            <a:srgbClr val="111111"/>
                          </a:solidFill>
                          <a:latin typeface="Calibri" pitchFamily="34" charset="0"/>
                          <a:ea typeface="Calibri" pitchFamily="34" charset="-122"/>
                          <a:cs typeface="Calibri" pitchFamily="34" charset="-120"/>
                        </a:rPr>
                        <a:t>81.2%</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E0B2"/>
                    </a:solidFill>
                  </a:tcPr>
                </a:tc>
                <a:tc>
                  <a:txBody>
                    <a:bodyPr/>
                    <a:lstStyle/>
                    <a:p>
                      <a:pPr marL="0" indent="0" algn="ctr">
                        <a:buNone/>
                      </a:pPr>
                      <a:r>
                        <a:rPr lang="en-US" sz="1300" b="1" dirty="0">
                          <a:solidFill>
                            <a:srgbClr val="111111"/>
                          </a:solidFill>
                          <a:latin typeface="Calibri" pitchFamily="34" charset="0"/>
                          <a:ea typeface="Calibri" pitchFamily="34" charset="-122"/>
                          <a:cs typeface="Calibri" pitchFamily="34" charset="-120"/>
                        </a:rPr>
                        <a:t>74.8%</a:t>
                      </a:r>
                      <a:endParaRPr lang="en-US" sz="13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E0B2"/>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457200" y="3474720"/>
            <a:ext cx="8229600" cy="1097280"/>
          </a:xfrm>
          <a:prstGeom prst="rect">
            <a:avLst/>
          </a:prstGeom>
          <a:noFill/>
          <a:ln/>
        </p:spPr>
        <p:txBody>
          <a:bodyPr wrap="square" lIns="0" tIns="0" rIns="0" bIns="0" rtlCol="0" anchor="t"/>
          <a:lstStyle/>
          <a:p>
            <a:pPr marL="0" indent="0">
              <a:buNone/>
            </a:pPr>
            <a:r>
              <a:rPr lang="en-US" sz="1400" dirty="0">
                <a:solidFill>
                  <a:srgbClr val="111111"/>
                </a:solidFill>
                <a:latin typeface="Calibri" pitchFamily="34" charset="0"/>
                <a:ea typeface="Calibri" pitchFamily="34" charset="-122"/>
                <a:cs typeface="Calibri" pitchFamily="34" charset="-120"/>
              </a:rPr>
              <a:t>Precision and recall are for the Declined class. Fold-to-fold spread in AUC is only 0.003–0.006, so the 2-point gain of Gradient Boosting over logistic regression is real. The test set was touched once, at the end.</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Gradient Boosting wins on ranking</a:t>
            </a:r>
            <a:endParaRPr lang="en-US" sz="2800" dirty="0"/>
          </a:p>
        </p:txBody>
      </p:sp>
      <p:sp>
        <p:nvSpPr>
          <p:cNvPr id="3" name="Shape 1"/>
          <p:cNvSpPr/>
          <p:nvPr/>
        </p:nvSpPr>
        <p:spPr>
          <a:xfrm>
            <a:off x="7315200" y="347472"/>
            <a:ext cx="1371600" cy="329184"/>
          </a:xfrm>
          <a:prstGeom prst="roundRect">
            <a:avLst>
              <a:gd name="adj" fmla="val 27778"/>
            </a:avLst>
          </a:prstGeom>
          <a:solidFill>
            <a:srgbClr val="1565C0"/>
          </a:solidFill>
          <a:ln w="12700">
            <a:solidFill>
              <a:srgbClr val="1565C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 2</a:t>
            </a:r>
            <a:endParaRPr lang="en-US" sz="1200" dirty="0"/>
          </a:p>
        </p:txBody>
      </p:sp>
      <p:graphicFrame>
        <p:nvGraphicFramePr>
          <p:cNvPr id="5" name="Chart 0"/>
          <p:cNvGraphicFramePr/>
          <p:nvPr/>
        </p:nvGraphicFramePr>
        <p:xfrm>
          <a:off x="365760" y="914400"/>
          <a:ext cx="475488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394960" y="1005840"/>
            <a:ext cx="3291840" cy="914400"/>
          </a:xfrm>
          <a:prstGeom prst="roundRect">
            <a:avLst>
              <a:gd name="adj" fmla="val 8000"/>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7" name="Text 4"/>
          <p:cNvSpPr txBox="1"/>
          <p:nvPr/>
        </p:nvSpPr>
        <p:spPr>
          <a:xfrm>
            <a:off x="5532120" y="1097280"/>
            <a:ext cx="3017520" cy="411480"/>
          </a:xfrm>
          <a:prstGeom prst="rect">
            <a:avLst/>
          </a:prstGeom>
          <a:noFill/>
          <a:ln/>
        </p:spPr>
        <p:txBody>
          <a:bodyPr wrap="square" lIns="0" tIns="0" rIns="0" bIns="0" rtlCol="0" anchor="ctr"/>
          <a:lstStyle/>
          <a:p>
            <a:pPr marL="0" indent="0">
              <a:buNone/>
            </a:pPr>
            <a:r>
              <a:rPr lang="en-US" sz="3000" b="1" dirty="0">
                <a:solidFill>
                  <a:srgbClr val="F57C00"/>
                </a:solidFill>
                <a:latin typeface="Calibri" pitchFamily="34" charset="0"/>
                <a:ea typeface="Calibri" pitchFamily="34" charset="-122"/>
                <a:cs typeface="Calibri" pitchFamily="34" charset="-120"/>
              </a:rPr>
              <a:t>0.889</a:t>
            </a:r>
            <a:endParaRPr lang="en-US" sz="3000" dirty="0"/>
          </a:p>
        </p:txBody>
      </p:sp>
      <p:sp>
        <p:nvSpPr>
          <p:cNvPr id="8" name="Text 5"/>
          <p:cNvSpPr txBox="1"/>
          <p:nvPr/>
        </p:nvSpPr>
        <p:spPr>
          <a:xfrm>
            <a:off x="5532120" y="1508760"/>
            <a:ext cx="3017520" cy="365760"/>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test AUC vs 0.868 for logistic regression</a:t>
            </a:r>
            <a:endParaRPr lang="en-US" sz="1300" dirty="0"/>
          </a:p>
        </p:txBody>
      </p:sp>
      <p:sp>
        <p:nvSpPr>
          <p:cNvPr id="9" name="Text 6"/>
          <p:cNvSpPr txBox="1"/>
          <p:nvPr/>
        </p:nvSpPr>
        <p:spPr>
          <a:xfrm>
            <a:off x="5394960" y="2103120"/>
            <a:ext cx="329184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Top 3 features carry 88% of importance: delinquencies 30%, credit score 29%, FOIR 29%. This matches 5.2 and 5.3</a:t>
            </a:r>
            <a:endParaRPr lang="en-US" sz="1300" dirty="0"/>
          </a:p>
          <a:p>
            <a:pPr marL="342900" indent="-342900">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Keep logistic regression as the transparent benchmark and add reason codes for every auto-decline</a:t>
            </a:r>
            <a:endParaRPr lang="en-US" sz="1300" dirty="0"/>
          </a:p>
          <a:p>
            <a:pPr marL="342900" indent="-342900">
              <a:spcAft>
                <a:spcPts val="600"/>
              </a:spcAft>
              <a:buSzPct val="100000"/>
              <a:buChar char="•"/>
            </a:pPr>
            <a:r>
              <a:rPr lang="en-US" sz="1300" dirty="0">
                <a:solidFill>
                  <a:srgbClr val="111111"/>
                </a:solidFill>
                <a:latin typeface="Calibri" pitchFamily="34" charset="0"/>
                <a:ea typeface="Calibri" pitchFamily="34" charset="-122"/>
                <a:cs typeface="Calibri" pitchFamily="34" charset="-120"/>
              </a:rPr>
              <a:t>Single Pipeline (cleaning to prediction) learns medians from training rows only, so no data leakage</a:t>
            </a:r>
            <a:endParaRPr lang="en-US" sz="1300" dirty="0"/>
          </a:p>
        </p:txBody>
      </p:sp>
      <p:sp>
        <p:nvSpPr>
          <p:cNvPr id="10" name="Text 7"/>
          <p:cNvSpPr txBox="1"/>
          <p:nvPr/>
        </p:nvSpPr>
        <p:spPr>
          <a:xfrm>
            <a:off x="457200" y="4206240"/>
            <a:ext cx="4572000" cy="274320"/>
          </a:xfrm>
          <a:prstGeom prst="rect">
            <a:avLst/>
          </a:prstGeom>
          <a:noFill/>
          <a:ln/>
        </p:spPr>
        <p:txBody>
          <a:bodyPr wrap="square" lIns="0" tIns="0" rIns="0" bIns="0" rtlCol="0" anchor="t"/>
          <a:lstStyle/>
          <a:p>
            <a:pPr marL="0" indent="0">
              <a:buNone/>
            </a:pPr>
            <a:r>
              <a:rPr lang="en-US" sz="1200" dirty="0">
                <a:solidFill>
                  <a:srgbClr val="5F6B7A"/>
                </a:solidFill>
                <a:latin typeface="Calibri" pitchFamily="34" charset="0"/>
                <a:ea typeface="Calibri" pitchFamily="34" charset="-122"/>
                <a:cs typeface="Calibri" pitchFamily="34" charset="-120"/>
              </a:rPr>
              <a:t>Test set used once, after cross-validation.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Feature importances (top 8)</a:t>
            </a:r>
            <a:endParaRPr lang="en-US" sz="2800" dirty="0"/>
          </a:p>
        </p:txBody>
      </p:sp>
      <p:sp>
        <p:nvSpPr>
          <p:cNvPr id="3" name="Shape 1"/>
          <p:cNvSpPr/>
          <p:nvPr/>
        </p:nvSpPr>
        <p:spPr>
          <a:xfrm>
            <a:off x="7315200" y="347472"/>
            <a:ext cx="1371600" cy="329184"/>
          </a:xfrm>
          <a:prstGeom prst="roundRect">
            <a:avLst>
              <a:gd name="adj" fmla="val 27778"/>
            </a:avLst>
          </a:prstGeom>
          <a:solidFill>
            <a:srgbClr val="1565C0"/>
          </a:solidFill>
          <a:ln w="12700">
            <a:solidFill>
              <a:srgbClr val="1565C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 2</a:t>
            </a:r>
            <a:endParaRPr lang="en-US" sz="1200" dirty="0"/>
          </a:p>
        </p:txBody>
      </p:sp>
      <p:graphicFrame>
        <p:nvGraphicFramePr>
          <p:cNvPr id="5" name="Chart 0"/>
          <p:cNvGraphicFramePr/>
          <p:nvPr>
            <p:extLst>
              <p:ext uri="{D42A27DB-BD31-4B8C-83A1-F6EECF244321}">
                <p14:modId xmlns:p14="http://schemas.microsoft.com/office/powerpoint/2010/main" val="2483417836"/>
              </p:ext>
            </p:extLst>
          </p:nvPr>
        </p:nvGraphicFramePr>
        <p:xfrm>
          <a:off x="365760" y="914400"/>
          <a:ext cx="493776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577840" y="1005840"/>
            <a:ext cx="3108960" cy="1005840"/>
          </a:xfrm>
          <a:prstGeom prst="roundRect">
            <a:avLst>
              <a:gd name="adj" fmla="val 7273"/>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7" name="Text 4"/>
          <p:cNvSpPr txBox="1"/>
          <p:nvPr/>
        </p:nvSpPr>
        <p:spPr>
          <a:xfrm>
            <a:off x="5715000" y="1097280"/>
            <a:ext cx="2834640" cy="452628"/>
          </a:xfrm>
          <a:prstGeom prst="rect">
            <a:avLst/>
          </a:prstGeom>
          <a:noFill/>
          <a:ln/>
        </p:spPr>
        <p:txBody>
          <a:bodyPr wrap="square" lIns="0" tIns="0" rIns="0" bIns="0" rtlCol="0" anchor="ctr"/>
          <a:lstStyle/>
          <a:p>
            <a:pPr marL="0" indent="0">
              <a:buNone/>
            </a:pPr>
            <a:r>
              <a:rPr lang="en-US" sz="3000" b="1" dirty="0">
                <a:solidFill>
                  <a:srgbClr val="F57C00"/>
                </a:solidFill>
                <a:latin typeface="Calibri" pitchFamily="34" charset="0"/>
                <a:ea typeface="Calibri" pitchFamily="34" charset="-122"/>
                <a:cs typeface="Calibri" pitchFamily="34" charset="-120"/>
              </a:rPr>
              <a:t>88%</a:t>
            </a:r>
            <a:endParaRPr lang="en-US" sz="3000" dirty="0"/>
          </a:p>
        </p:txBody>
      </p:sp>
      <p:sp>
        <p:nvSpPr>
          <p:cNvPr id="8" name="Text 5"/>
          <p:cNvSpPr txBox="1"/>
          <p:nvPr/>
        </p:nvSpPr>
        <p:spPr>
          <a:xfrm>
            <a:off x="5715000" y="1559052"/>
            <a:ext cx="2834640" cy="402336"/>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of importance in just three features</a:t>
            </a:r>
            <a:endParaRPr lang="en-US" sz="1300" dirty="0"/>
          </a:p>
        </p:txBody>
      </p:sp>
      <p:sp>
        <p:nvSpPr>
          <p:cNvPr id="9" name="Text 6"/>
          <p:cNvSpPr txBox="1"/>
          <p:nvPr/>
        </p:nvSpPr>
        <p:spPr>
          <a:xfrm>
            <a:off x="5577840" y="2194560"/>
            <a:ext cx="3108960" cy="24688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Delinquencies, score and FOIR match the 650 cliff and 55% FOIR drop from 5.2 and 5.3</a:t>
            </a:r>
            <a:endParaRPr lang="en-US" sz="1300" dirty="0"/>
          </a:p>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Importance shows how much, not which direction: keep logistic coefficients and add reason codes for each auto-decline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Searching threshold pairs</a:t>
            </a:r>
            <a:endParaRPr lang="en-US" sz="2800" dirty="0"/>
          </a:p>
        </p:txBody>
      </p:sp>
      <p:sp>
        <p:nvSpPr>
          <p:cNvPr id="3" name="Shape 1"/>
          <p:cNvSpPr/>
          <p:nvPr/>
        </p:nvSpPr>
        <p:spPr>
          <a:xfrm>
            <a:off x="7315200" y="347472"/>
            <a:ext cx="1371600" cy="329184"/>
          </a:xfrm>
          <a:prstGeom prst="roundRect">
            <a:avLst>
              <a:gd name="adj" fmla="val 27778"/>
            </a:avLst>
          </a:prstGeom>
          <a:solidFill>
            <a:srgbClr val="1565C0"/>
          </a:solidFill>
          <a:ln w="12700">
            <a:solidFill>
              <a:srgbClr val="1565C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 2</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4754880" cy="2560320"/>
        </p:xfrm>
        <a:graphic>
          <a:graphicData uri="http://schemas.openxmlformats.org/drawingml/2006/table">
            <a:tbl>
              <a:tblPr/>
              <a:tblGrid>
                <a:gridCol w="20116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65760">
                <a:tc>
                  <a:txBody>
                    <a:bodyPr/>
                    <a:lstStyle/>
                    <a:p>
                      <a:pPr marL="0" indent="0" algn="l">
                        <a:buNone/>
                      </a:pP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Logistic Reg.</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Gradient Boosting</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extLst>
                  <a:ext uri="{0D108BD9-81ED-4DB2-BD59-A6C34878D82A}">
                    <a16:rowId xmlns:a16="http://schemas.microsoft.com/office/drawing/2014/main" val="10000"/>
                  </a:ext>
                </a:extLst>
              </a:tr>
              <a:tr h="365760">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Cut-offs (low / high)</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0.10 / 0.89</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0.17 / 0.90</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1"/>
                  </a:ext>
                </a:extLst>
              </a:tr>
              <a:tr h="365760">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Auto-decline lane</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15.2%</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24.2%</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Analyst review</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68.0%</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58.2%</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3"/>
                  </a:ext>
                </a:extLst>
              </a:tr>
              <a:tr h="365760">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Fast-track lane</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16.8%</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17.6%</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Wrongly auto-declined</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4.8%</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5"/>
                  </a:ext>
                </a:extLst>
              </a:tr>
              <a:tr h="365760">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Wrongly fast-tracked</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3.8%</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hape 3"/>
          <p:cNvSpPr/>
          <p:nvPr/>
        </p:nvSpPr>
        <p:spPr>
          <a:xfrm>
            <a:off x="5486400" y="1005840"/>
            <a:ext cx="3200400" cy="3566160"/>
          </a:xfrm>
          <a:prstGeom prst="roundRect">
            <a:avLst>
              <a:gd name="adj" fmla="val 2286"/>
            </a:avLst>
          </a:prstGeom>
          <a:solidFill>
            <a:srgbClr val="111111"/>
          </a:solidFill>
          <a:ln w="12700">
            <a:solidFill>
              <a:srgbClr val="111111"/>
            </a:solidFill>
            <a:prstDash val="solid"/>
          </a:ln>
        </p:spPr>
      </p:sp>
      <p:sp>
        <p:nvSpPr>
          <p:cNvPr id="7" name="Text 4"/>
          <p:cNvSpPr txBox="1"/>
          <p:nvPr/>
        </p:nvSpPr>
        <p:spPr>
          <a:xfrm>
            <a:off x="5669280" y="1143000"/>
            <a:ext cx="2834640" cy="365760"/>
          </a:xfrm>
          <a:prstGeom prst="rect">
            <a:avLst/>
          </a:prstGeom>
          <a:noFill/>
          <a:ln/>
        </p:spPr>
        <p:txBody>
          <a:bodyPr wrap="square" lIns="0" tIns="0" rIns="0" bIns="0" rtlCol="0" anchor="t"/>
          <a:lstStyle/>
          <a:p>
            <a:pPr marL="0" indent="0">
              <a:buNone/>
            </a:pPr>
            <a:r>
              <a:rPr lang="en-US" sz="1600" b="1" dirty="0">
                <a:solidFill>
                  <a:srgbClr val="F57C00"/>
                </a:solidFill>
                <a:latin typeface="Calibri" pitchFamily="34" charset="0"/>
                <a:ea typeface="Calibri" pitchFamily="34" charset="-122"/>
                <a:cs typeface="Calibri" pitchFamily="34" charset="-120"/>
              </a:rPr>
              <a:t>Stability warning</a:t>
            </a:r>
            <a:endParaRPr lang="en-US" sz="1600" dirty="0"/>
          </a:p>
        </p:txBody>
      </p:sp>
      <p:sp>
        <p:nvSpPr>
          <p:cNvPr id="8" name="Text 5"/>
          <p:cNvSpPr txBox="1"/>
          <p:nvPr/>
        </p:nvSpPr>
        <p:spPr>
          <a:xfrm>
            <a:off x="5669280" y="1600200"/>
            <a:ext cx="2834640" cy="283464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Cut-offs tuned on the 2,400 test rows look flattering. On 9,600 out-of-fold training predictions, Gradient Boosting shows 5.3% wrongly auto-declined and logistic regression 5.1% wrongly fast-tracked.</a:t>
            </a:r>
            <a:endParaRPr lang="en-US" sz="1300" dirty="0"/>
          </a:p>
          <a:p>
            <a:pPr marL="0" indent="0">
              <a:buNone/>
            </a:pPr>
            <a:endParaRPr lang="en-US" sz="1300" dirty="0"/>
          </a:p>
          <a:p>
            <a:pPr marL="0" indent="0">
              <a:buNone/>
            </a:pPr>
            <a:r>
              <a:rPr lang="en-US" sz="1300" dirty="0">
                <a:solidFill>
                  <a:srgbClr val="FFFFFF"/>
                </a:solidFill>
                <a:latin typeface="Calibri" pitchFamily="34" charset="0"/>
                <a:ea typeface="Calibri" pitchFamily="34" charset="-122"/>
                <a:cs typeface="Calibri" pitchFamily="34" charset="-120"/>
              </a:rPr>
              <a:t>Fix: tune on out-of-fold data, check once on test. Gradient Boosting then uses 0.15 / 0.88.</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Two lanes automate far more</a:t>
            </a:r>
            <a:endParaRPr lang="en-US" sz="2800" dirty="0"/>
          </a:p>
        </p:txBody>
      </p:sp>
      <p:sp>
        <p:nvSpPr>
          <p:cNvPr id="3" name="Shape 1"/>
          <p:cNvSpPr/>
          <p:nvPr/>
        </p:nvSpPr>
        <p:spPr>
          <a:xfrm>
            <a:off x="7315200" y="347472"/>
            <a:ext cx="1371600" cy="329184"/>
          </a:xfrm>
          <a:prstGeom prst="roundRect">
            <a:avLst>
              <a:gd name="adj" fmla="val 27778"/>
            </a:avLst>
          </a:prstGeom>
          <a:solidFill>
            <a:srgbClr val="1565C0"/>
          </a:solidFill>
          <a:ln w="12700">
            <a:solidFill>
              <a:srgbClr val="1565C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 2</a:t>
            </a:r>
            <a:endParaRPr lang="en-US" sz="1200" dirty="0"/>
          </a:p>
        </p:txBody>
      </p:sp>
      <p:graphicFrame>
        <p:nvGraphicFramePr>
          <p:cNvPr id="5" name="Chart 0"/>
          <p:cNvGraphicFramePr/>
          <p:nvPr>
            <p:extLst>
              <p:ext uri="{D42A27DB-BD31-4B8C-83A1-F6EECF244321}">
                <p14:modId xmlns:p14="http://schemas.microsoft.com/office/powerpoint/2010/main" val="1878561862"/>
              </p:ext>
            </p:extLst>
          </p:nvPr>
        </p:nvGraphicFramePr>
        <p:xfrm>
          <a:off x="365760" y="914400"/>
          <a:ext cx="475488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394960" y="1005840"/>
            <a:ext cx="3291840" cy="914400"/>
          </a:xfrm>
          <a:prstGeom prst="roundRect">
            <a:avLst>
              <a:gd name="adj" fmla="val 8000"/>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7" name="Text 4"/>
          <p:cNvSpPr txBox="1"/>
          <p:nvPr/>
        </p:nvSpPr>
        <p:spPr>
          <a:xfrm>
            <a:off x="5532120" y="1097280"/>
            <a:ext cx="3017520" cy="411480"/>
          </a:xfrm>
          <a:prstGeom prst="rect">
            <a:avLst/>
          </a:prstGeom>
          <a:noFill/>
          <a:ln/>
        </p:spPr>
        <p:txBody>
          <a:bodyPr wrap="square" lIns="0" tIns="0" rIns="0" bIns="0" rtlCol="0" anchor="ctr"/>
          <a:lstStyle/>
          <a:p>
            <a:r>
              <a:rPr lang="en-US" sz="3200" b="1" dirty="0">
                <a:solidFill>
                  <a:srgbClr val="F28C28"/>
                </a:solidFill>
                <a:latin typeface="Calibri" pitchFamily="34" charset="0"/>
                <a:ea typeface="Calibri" pitchFamily="34" charset="-122"/>
                <a:cs typeface="Calibri" pitchFamily="34" charset="-120"/>
              </a:rPr>
              <a:t>43.6%</a:t>
            </a:r>
            <a:endParaRPr lang="en-US" sz="3200" dirty="0"/>
          </a:p>
        </p:txBody>
      </p:sp>
      <p:sp>
        <p:nvSpPr>
          <p:cNvPr id="8" name="Text 5"/>
          <p:cNvSpPr txBox="1"/>
          <p:nvPr/>
        </p:nvSpPr>
        <p:spPr>
          <a:xfrm>
            <a:off x="5532120" y="1508760"/>
            <a:ext cx="3017520" cy="365760"/>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of queue automated (vs 32% for logistic regression)</a:t>
            </a:r>
            <a:endParaRPr lang="en-US" sz="1300" dirty="0"/>
          </a:p>
        </p:txBody>
      </p:sp>
      <p:sp>
        <p:nvSpPr>
          <p:cNvPr id="9" name="Shape 6"/>
          <p:cNvSpPr/>
          <p:nvPr/>
        </p:nvSpPr>
        <p:spPr>
          <a:xfrm>
            <a:off x="5394960" y="2103120"/>
            <a:ext cx="3291840" cy="914400"/>
          </a:xfrm>
          <a:prstGeom prst="roundRect">
            <a:avLst>
              <a:gd name="adj" fmla="val 8000"/>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10" name="Text 7"/>
          <p:cNvSpPr txBox="1"/>
          <p:nvPr/>
        </p:nvSpPr>
        <p:spPr>
          <a:xfrm>
            <a:off x="5532120" y="2194560"/>
            <a:ext cx="3017520" cy="411480"/>
          </a:xfrm>
          <a:prstGeom prst="rect">
            <a:avLst/>
          </a:prstGeom>
          <a:noFill/>
          <a:ln/>
        </p:spPr>
        <p:txBody>
          <a:bodyPr wrap="square" lIns="0" tIns="0" rIns="0" bIns="0" rtlCol="0" anchor="ctr"/>
          <a:lstStyle/>
          <a:p>
            <a:r>
              <a:rPr lang="en-US" sz="3200" b="1" dirty="0">
                <a:solidFill>
                  <a:srgbClr val="1F5FBF"/>
                </a:solidFill>
                <a:latin typeface="Calibri" pitchFamily="34" charset="0"/>
                <a:ea typeface="Calibri" pitchFamily="34" charset="-122"/>
                <a:cs typeface="Calibri" pitchFamily="34" charset="-120"/>
              </a:rPr>
              <a:t>~440-545 </a:t>
            </a:r>
            <a:r>
              <a:rPr lang="en-US" sz="3200" b="1" dirty="0" err="1">
                <a:solidFill>
                  <a:srgbClr val="1F5FBF"/>
                </a:solidFill>
                <a:latin typeface="Calibri" pitchFamily="34" charset="0"/>
                <a:ea typeface="Calibri" pitchFamily="34" charset="-122"/>
                <a:cs typeface="Calibri" pitchFamily="34" charset="-120"/>
              </a:rPr>
              <a:t>hrs</a:t>
            </a:r>
            <a:endParaRPr lang="en-US" sz="3200" dirty="0"/>
          </a:p>
        </p:txBody>
      </p:sp>
      <p:sp>
        <p:nvSpPr>
          <p:cNvPr id="11" name="Text 8"/>
          <p:cNvSpPr txBox="1"/>
          <p:nvPr/>
        </p:nvSpPr>
        <p:spPr>
          <a:xfrm>
            <a:off x="5532120" y="2606040"/>
            <a:ext cx="3017520" cy="365760"/>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freed a month, about 140 more than logistic regression</a:t>
            </a:r>
            <a:endParaRPr lang="en-US" sz="1300" dirty="0"/>
          </a:p>
        </p:txBody>
      </p:sp>
      <p:sp>
        <p:nvSpPr>
          <p:cNvPr id="12" name="Text 9"/>
          <p:cNvSpPr txBox="1"/>
          <p:nvPr/>
        </p:nvSpPr>
        <p:spPr>
          <a:xfrm>
            <a:off x="5394960" y="3200400"/>
            <a:ext cx="3291840" cy="1463040"/>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Cut-offs 0.15 (auto-decline) and 0.88 (fast-track), tuned on out-of-fold data and checked once on test. Both 5% limits hold to about ±1 point (4.0% and 5.3% on test).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Who lands in which lane</a:t>
            </a:r>
            <a:endParaRPr lang="en-US" sz="2800" dirty="0"/>
          </a:p>
        </p:txBody>
      </p:sp>
      <p:sp>
        <p:nvSpPr>
          <p:cNvPr id="3" name="Shape 1"/>
          <p:cNvSpPr/>
          <p:nvPr/>
        </p:nvSpPr>
        <p:spPr>
          <a:xfrm>
            <a:off x="7315200" y="347472"/>
            <a:ext cx="1371600" cy="329184"/>
          </a:xfrm>
          <a:prstGeom prst="roundRect">
            <a:avLst>
              <a:gd name="adj" fmla="val 27778"/>
            </a:avLst>
          </a:prstGeom>
          <a:solidFill>
            <a:srgbClr val="1565C0"/>
          </a:solidFill>
          <a:ln w="12700">
            <a:solidFill>
              <a:srgbClr val="1565C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 2</a:t>
            </a:r>
            <a:endParaRPr lang="en-US" sz="1200" dirty="0"/>
          </a:p>
        </p:txBody>
      </p:sp>
      <p:graphicFrame>
        <p:nvGraphicFramePr>
          <p:cNvPr id="5" name="Chart 0"/>
          <p:cNvGraphicFramePr/>
          <p:nvPr/>
        </p:nvGraphicFramePr>
        <p:xfrm>
          <a:off x="365760" y="914400"/>
          <a:ext cx="530352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852160" y="1097280"/>
            <a:ext cx="2834640" cy="347472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11111"/>
                </a:solidFill>
                <a:latin typeface="Calibri" pitchFamily="34" charset="0"/>
                <a:ea typeface="Calibri" pitchFamily="34" charset="-122"/>
                <a:cs typeface="Calibri" pitchFamily="34" charset="-120"/>
              </a:rPr>
              <a:t>Gig workers are auto-declined 40.1% vs 19.8% for Salaried, and fast-tracked only 8.8%: employment type acts as a proxy</a:t>
            </a:r>
            <a:endParaRPr lang="en-US" sz="1300" dirty="0"/>
          </a:p>
          <a:p>
            <a:pPr marL="342900" indent="-342900">
              <a:spcAft>
                <a:spcPts val="1000"/>
              </a:spcAft>
              <a:buSzPct val="100000"/>
              <a:buChar char="•"/>
            </a:pPr>
            <a:r>
              <a:rPr lang="en-US" sz="1300" dirty="0">
                <a:solidFill>
                  <a:srgbClr val="111111"/>
                </a:solidFill>
                <a:latin typeface="Calibri" pitchFamily="34" charset="0"/>
                <a:ea typeface="Calibri" pitchFamily="34" charset="-122"/>
                <a:cs typeface="Calibri" pitchFamily="34" charset="-120"/>
              </a:rPr>
              <a:t>Women: 24.0% auto-declined, 18.1% fast-tracked vs men 22.1% and 21.3%</a:t>
            </a:r>
            <a:endParaRPr lang="en-US" sz="1300" dirty="0"/>
          </a:p>
          <a:p>
            <a:pPr marL="342900" indent="-342900">
              <a:spcAft>
                <a:spcPts val="1000"/>
              </a:spcAft>
              <a:buSzPct val="100000"/>
              <a:buChar char="•"/>
            </a:pPr>
            <a:r>
              <a:rPr lang="en-US" sz="1300" dirty="0">
                <a:solidFill>
                  <a:srgbClr val="111111"/>
                </a:solidFill>
                <a:latin typeface="Calibri" pitchFamily="34" charset="0"/>
                <a:ea typeface="Calibri" pitchFamily="34" charset="-122"/>
                <a:cs typeface="Calibri" pitchFamily="34" charset="-120"/>
              </a:rPr>
              <a:t>New-to-credit: 99% go to an analyst already, so keep them with a human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Credit policy recommendation</a:t>
            </a:r>
            <a:endParaRPr lang="en-US" sz="2800" dirty="0"/>
          </a:p>
        </p:txBody>
      </p:sp>
      <p:sp>
        <p:nvSpPr>
          <p:cNvPr id="3" name="Shape 1"/>
          <p:cNvSpPr/>
          <p:nvPr/>
        </p:nvSpPr>
        <p:spPr>
          <a:xfrm>
            <a:off x="7315200" y="347472"/>
            <a:ext cx="1371600" cy="329184"/>
          </a:xfrm>
          <a:prstGeom prst="roundRect">
            <a:avLst>
              <a:gd name="adj" fmla="val 27778"/>
            </a:avLst>
          </a:prstGeom>
          <a:solidFill>
            <a:srgbClr val="1565C0"/>
          </a:solidFill>
          <a:ln w="12700">
            <a:solidFill>
              <a:srgbClr val="1565C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PART 2</a:t>
            </a:r>
            <a:endParaRPr lang="en-US" sz="1200" dirty="0"/>
          </a:p>
        </p:txBody>
      </p:sp>
      <p:sp>
        <p:nvSpPr>
          <p:cNvPr id="5" name="Shape 3"/>
          <p:cNvSpPr/>
          <p:nvPr/>
        </p:nvSpPr>
        <p:spPr>
          <a:xfrm>
            <a:off x="457200" y="1005840"/>
            <a:ext cx="4023360" cy="1280160"/>
          </a:xfrm>
          <a:prstGeom prst="roundRect">
            <a:avLst>
              <a:gd name="adj" fmla="val 5714"/>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6" name="Text 4"/>
          <p:cNvSpPr txBox="1"/>
          <p:nvPr/>
        </p:nvSpPr>
        <p:spPr>
          <a:xfrm>
            <a:off x="640080" y="1115568"/>
            <a:ext cx="3657600" cy="274320"/>
          </a:xfrm>
          <a:prstGeom prst="rect">
            <a:avLst/>
          </a:prstGeom>
          <a:noFill/>
          <a:ln/>
        </p:spPr>
        <p:txBody>
          <a:bodyPr wrap="square" lIns="0" tIns="0" rIns="0" bIns="0" rtlCol="0" anchor="t"/>
          <a:lstStyle/>
          <a:p>
            <a:pPr marL="0" indent="0">
              <a:buNone/>
            </a:pPr>
            <a:r>
              <a:rPr lang="en-US" sz="1500" b="1" dirty="0">
                <a:solidFill>
                  <a:srgbClr val="F57C00"/>
                </a:solidFill>
                <a:latin typeface="Calibri" pitchFamily="34" charset="0"/>
                <a:ea typeface="Calibri" pitchFamily="34" charset="-122"/>
                <a:cs typeface="Calibri" pitchFamily="34" charset="-120"/>
              </a:rPr>
              <a:t>Adopt</a:t>
            </a:r>
            <a:endParaRPr lang="en-US" sz="1500" dirty="0"/>
          </a:p>
        </p:txBody>
      </p:sp>
      <p:sp>
        <p:nvSpPr>
          <p:cNvPr id="7" name="Text 5"/>
          <p:cNvSpPr txBox="1"/>
          <p:nvPr/>
        </p:nvSpPr>
        <p:spPr>
          <a:xfrm>
            <a:off x="640080" y="1444752"/>
            <a:ext cx="3657600" cy="777240"/>
          </a:xfrm>
          <a:prstGeom prst="rect">
            <a:avLst/>
          </a:prstGeom>
          <a:noFill/>
          <a:ln/>
        </p:spPr>
        <p:txBody>
          <a:bodyPr wrap="square" lIns="0" tIns="0" rIns="0" bIns="0" rtlCol="0" anchor="t"/>
          <a:lstStyle/>
          <a:p>
            <a:pPr marL="0" indent="0">
              <a:buNone/>
            </a:pPr>
            <a:r>
              <a:rPr lang="en-US" sz="1250" dirty="0">
                <a:solidFill>
                  <a:srgbClr val="111111"/>
                </a:solidFill>
                <a:latin typeface="Calibri" pitchFamily="34" charset="0"/>
                <a:ea typeface="Calibri" pitchFamily="34" charset="-122"/>
                <a:cs typeface="Calibri" pitchFamily="34" charset="-120"/>
              </a:rPr>
              <a:t>Gradient Boosting: auto-decline below 0.15, fast-track at 0.88 or above. Analysts keep 56%.</a:t>
            </a:r>
            <a:endParaRPr lang="en-US" sz="1250" dirty="0"/>
          </a:p>
        </p:txBody>
      </p:sp>
      <p:sp>
        <p:nvSpPr>
          <p:cNvPr id="8" name="Shape 6"/>
          <p:cNvSpPr/>
          <p:nvPr/>
        </p:nvSpPr>
        <p:spPr>
          <a:xfrm>
            <a:off x="4663440" y="1005840"/>
            <a:ext cx="4023360" cy="1280160"/>
          </a:xfrm>
          <a:prstGeom prst="roundRect">
            <a:avLst>
              <a:gd name="adj" fmla="val 5714"/>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9" name="Text 7"/>
          <p:cNvSpPr txBox="1"/>
          <p:nvPr/>
        </p:nvSpPr>
        <p:spPr>
          <a:xfrm>
            <a:off x="4846320" y="1115568"/>
            <a:ext cx="3657600" cy="274320"/>
          </a:xfrm>
          <a:prstGeom prst="rect">
            <a:avLst/>
          </a:prstGeom>
          <a:noFill/>
          <a:ln/>
        </p:spPr>
        <p:txBody>
          <a:bodyPr wrap="square" lIns="0" tIns="0" rIns="0" bIns="0" rtlCol="0" anchor="t"/>
          <a:lstStyle/>
          <a:p>
            <a:pPr marL="0" indent="0">
              <a:buNone/>
            </a:pPr>
            <a:r>
              <a:rPr lang="en-US" sz="1500" b="1" dirty="0">
                <a:solidFill>
                  <a:srgbClr val="1565C0"/>
                </a:solidFill>
                <a:latin typeface="Calibri" pitchFamily="34" charset="0"/>
                <a:ea typeface="Calibri" pitchFamily="34" charset="-122"/>
                <a:cs typeface="Calibri" pitchFamily="34" charset="-120"/>
              </a:rPr>
              <a:t>Impact</a:t>
            </a:r>
            <a:endParaRPr lang="en-US" sz="1500" dirty="0"/>
          </a:p>
        </p:txBody>
      </p:sp>
      <p:sp>
        <p:nvSpPr>
          <p:cNvPr id="10" name="Text 8"/>
          <p:cNvSpPr txBox="1"/>
          <p:nvPr/>
        </p:nvSpPr>
        <p:spPr>
          <a:xfrm>
            <a:off x="4846320" y="1444752"/>
            <a:ext cx="3657600" cy="777240"/>
          </a:xfrm>
          <a:prstGeom prst="rect">
            <a:avLst/>
          </a:prstGeom>
          <a:noFill/>
          <a:ln/>
        </p:spPr>
        <p:txBody>
          <a:bodyPr wrap="square" lIns="0" tIns="0" rIns="0" bIns="0" rtlCol="0" anchor="t"/>
          <a:lstStyle/>
          <a:p>
            <a:pPr marL="0" indent="0">
              <a:buNone/>
            </a:pPr>
            <a:r>
              <a:rPr lang="en-US" sz="1250" dirty="0">
                <a:solidFill>
                  <a:srgbClr val="111111"/>
                </a:solidFill>
                <a:latin typeface="Calibri" pitchFamily="34" charset="0"/>
                <a:ea typeface="Calibri" pitchFamily="34" charset="-122"/>
                <a:cs typeface="Calibri" pitchFamily="34" charset="-120"/>
              </a:rPr>
              <a:t>About 1,290 of 3,000 applications and 545 of 1,250 hours a month leave the manual queue.</a:t>
            </a:r>
            <a:endParaRPr lang="en-US" sz="1250" dirty="0"/>
          </a:p>
        </p:txBody>
      </p:sp>
      <p:sp>
        <p:nvSpPr>
          <p:cNvPr id="11" name="Shape 9"/>
          <p:cNvSpPr/>
          <p:nvPr/>
        </p:nvSpPr>
        <p:spPr>
          <a:xfrm>
            <a:off x="457200" y="2423160"/>
            <a:ext cx="4023360" cy="1280160"/>
          </a:xfrm>
          <a:prstGeom prst="roundRect">
            <a:avLst>
              <a:gd name="adj" fmla="val 5714"/>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12" name="Text 10"/>
          <p:cNvSpPr txBox="1"/>
          <p:nvPr/>
        </p:nvSpPr>
        <p:spPr>
          <a:xfrm>
            <a:off x="640080" y="2532888"/>
            <a:ext cx="3657600" cy="274320"/>
          </a:xfrm>
          <a:prstGeom prst="rect">
            <a:avLst/>
          </a:prstGeom>
          <a:noFill/>
          <a:ln/>
        </p:spPr>
        <p:txBody>
          <a:bodyPr wrap="square" lIns="0" tIns="0" rIns="0" bIns="0" rtlCol="0" anchor="t"/>
          <a:lstStyle/>
          <a:p>
            <a:pPr marL="0" indent="0">
              <a:buNone/>
            </a:pPr>
            <a:r>
              <a:rPr lang="en-US" sz="1500" b="1" dirty="0">
                <a:solidFill>
                  <a:srgbClr val="F57C00"/>
                </a:solidFill>
                <a:latin typeface="Calibri" pitchFamily="34" charset="0"/>
                <a:ea typeface="Calibri" pitchFamily="34" charset="-122"/>
                <a:cs typeface="Calibri" pitchFamily="34" charset="-120"/>
              </a:rPr>
              <a:t>Keep with humans</a:t>
            </a:r>
            <a:endParaRPr lang="en-US" sz="1500" dirty="0"/>
          </a:p>
        </p:txBody>
      </p:sp>
      <p:sp>
        <p:nvSpPr>
          <p:cNvPr id="13" name="Text 11"/>
          <p:cNvSpPr txBox="1"/>
          <p:nvPr/>
        </p:nvSpPr>
        <p:spPr>
          <a:xfrm>
            <a:off x="640080" y="2862072"/>
            <a:ext cx="3657600" cy="777240"/>
          </a:xfrm>
          <a:prstGeom prst="rect">
            <a:avLst/>
          </a:prstGeom>
          <a:noFill/>
          <a:ln/>
        </p:spPr>
        <p:txBody>
          <a:bodyPr wrap="square" lIns="0" tIns="0" rIns="0" bIns="0" rtlCol="0" anchor="t"/>
          <a:lstStyle/>
          <a:p>
            <a:pPr marL="0" indent="0">
              <a:buNone/>
            </a:pPr>
            <a:r>
              <a:rPr lang="en-US" sz="1250" dirty="0">
                <a:solidFill>
                  <a:srgbClr val="111111"/>
                </a:solidFill>
                <a:latin typeface="Calibri" pitchFamily="34" charset="0"/>
                <a:ea typeface="Calibri" pitchFamily="34" charset="-122"/>
                <a:cs typeface="Calibri" pitchFamily="34" charset="-120"/>
              </a:rPr>
              <a:t>New-to-credit (99% already routed to review), high-income segment (26.6% error), anything near 55% FOIR.</a:t>
            </a:r>
            <a:endParaRPr lang="en-US" sz="1250" dirty="0"/>
          </a:p>
        </p:txBody>
      </p:sp>
      <p:sp>
        <p:nvSpPr>
          <p:cNvPr id="14" name="Shape 12"/>
          <p:cNvSpPr/>
          <p:nvPr/>
        </p:nvSpPr>
        <p:spPr>
          <a:xfrm>
            <a:off x="4663440" y="2423160"/>
            <a:ext cx="4023360" cy="1280160"/>
          </a:xfrm>
          <a:prstGeom prst="roundRect">
            <a:avLst>
              <a:gd name="adj" fmla="val 5714"/>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15" name="Text 13"/>
          <p:cNvSpPr txBox="1"/>
          <p:nvPr/>
        </p:nvSpPr>
        <p:spPr>
          <a:xfrm>
            <a:off x="4846320" y="2532888"/>
            <a:ext cx="3657600" cy="274320"/>
          </a:xfrm>
          <a:prstGeom prst="rect">
            <a:avLst/>
          </a:prstGeom>
          <a:noFill/>
          <a:ln/>
        </p:spPr>
        <p:txBody>
          <a:bodyPr wrap="square" lIns="0" tIns="0" rIns="0" bIns="0" rtlCol="0" anchor="t"/>
          <a:lstStyle/>
          <a:p>
            <a:pPr marL="0" indent="0">
              <a:buNone/>
            </a:pPr>
            <a:r>
              <a:rPr lang="en-US" sz="1500" b="1" dirty="0">
                <a:solidFill>
                  <a:srgbClr val="1565C0"/>
                </a:solidFill>
                <a:latin typeface="Calibri" pitchFamily="34" charset="0"/>
                <a:ea typeface="Calibri" pitchFamily="34" charset="-122"/>
                <a:cs typeface="Calibri" pitchFamily="34" charset="-120"/>
              </a:rPr>
              <a:t>Fairness</a:t>
            </a:r>
            <a:endParaRPr lang="en-US" sz="1500" dirty="0"/>
          </a:p>
        </p:txBody>
      </p:sp>
      <p:sp>
        <p:nvSpPr>
          <p:cNvPr id="16" name="Text 14"/>
          <p:cNvSpPr txBox="1"/>
          <p:nvPr/>
        </p:nvSpPr>
        <p:spPr>
          <a:xfrm>
            <a:off x="4846320" y="2862072"/>
            <a:ext cx="3657600" cy="777240"/>
          </a:xfrm>
          <a:prstGeom prst="rect">
            <a:avLst/>
          </a:prstGeom>
          <a:noFill/>
          <a:ln/>
        </p:spPr>
        <p:txBody>
          <a:bodyPr wrap="square" lIns="0" tIns="0" rIns="0" bIns="0" rtlCol="0" anchor="t"/>
          <a:lstStyle/>
          <a:p>
            <a:pPr marL="0" indent="0">
              <a:buNone/>
            </a:pPr>
            <a:r>
              <a:rPr lang="en-US" sz="1250" dirty="0">
                <a:solidFill>
                  <a:srgbClr val="111111"/>
                </a:solidFill>
                <a:latin typeface="Calibri" pitchFamily="34" charset="0"/>
                <a:ea typeface="Calibri" pitchFamily="34" charset="-122"/>
                <a:cs typeface="Calibri" pitchFamily="34" charset="-120"/>
              </a:rPr>
              <a:t>Gig workers auto-declined 40.1% vs 19.8% Salaried. Report rates monthly by gender and employment type; trigger review at a 2-point gap.</a:t>
            </a:r>
            <a:endParaRPr lang="en-US" sz="1250" dirty="0"/>
          </a:p>
        </p:txBody>
      </p:sp>
      <p:sp>
        <p:nvSpPr>
          <p:cNvPr id="17" name="Shape 15"/>
          <p:cNvSpPr/>
          <p:nvPr/>
        </p:nvSpPr>
        <p:spPr>
          <a:xfrm>
            <a:off x="457200" y="3931920"/>
            <a:ext cx="8229600" cy="777240"/>
          </a:xfrm>
          <a:prstGeom prst="roundRect">
            <a:avLst>
              <a:gd name="adj" fmla="val 9412"/>
            </a:avLst>
          </a:prstGeom>
          <a:solidFill>
            <a:srgbClr val="111111"/>
          </a:solidFill>
          <a:ln w="12700">
            <a:solidFill>
              <a:srgbClr val="111111"/>
            </a:solidFill>
            <a:prstDash val="solid"/>
          </a:ln>
        </p:spPr>
      </p:sp>
      <p:sp>
        <p:nvSpPr>
          <p:cNvPr id="18" name="Text 16"/>
          <p:cNvSpPr txBox="1"/>
          <p:nvPr/>
        </p:nvSpPr>
        <p:spPr>
          <a:xfrm>
            <a:off x="685800" y="4005072"/>
            <a:ext cx="7772400" cy="64008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Before full rollout: run a 4–8  week shadow-mode pilot to confirm both lanes stay within 5% on fresh data, and start tracking repayment of fast-tracked loans.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6035040" y="822960"/>
            <a:ext cx="2926080" cy="2926080"/>
          </a:xfrm>
          <a:prstGeom prst="ellipse">
            <a:avLst/>
          </a:prstGeom>
          <a:solidFill>
            <a:srgbClr val="F57C00"/>
          </a:solidFill>
          <a:ln w="12700">
            <a:solidFill>
              <a:srgbClr val="F57C00"/>
            </a:solidFill>
            <a:prstDash val="solid"/>
          </a:ln>
        </p:spPr>
      </p:sp>
      <p:sp>
        <p:nvSpPr>
          <p:cNvPr id="3" name="Text 1"/>
          <p:cNvSpPr txBox="1"/>
          <p:nvPr/>
        </p:nvSpPr>
        <p:spPr>
          <a:xfrm>
            <a:off x="6035040" y="822960"/>
            <a:ext cx="2926080" cy="2926080"/>
          </a:xfrm>
          <a:prstGeom prst="rect">
            <a:avLst/>
          </a:prstGeom>
          <a:noFill/>
          <a:ln/>
        </p:spPr>
        <p:txBody>
          <a:bodyPr wrap="square" lIns="0" tIns="0" rIns="0" bIns="0" rtlCol="0" anchor="ctr"/>
          <a:lstStyle/>
          <a:p>
            <a:pPr marL="0" indent="0" algn="ctr">
              <a:buNone/>
            </a:pPr>
            <a:r>
              <a:rPr lang="en-US" sz="6400" b="1" dirty="0">
                <a:solidFill>
                  <a:srgbClr val="FFFFFF"/>
                </a:solidFill>
                <a:latin typeface="Calibri" pitchFamily="34" charset="0"/>
                <a:ea typeface="Calibri" pitchFamily="34" charset="-122"/>
                <a:cs typeface="Calibri" pitchFamily="34" charset="-120"/>
              </a:rPr>
              <a:t>5.12</a:t>
            </a:r>
            <a:endParaRPr lang="en-US" sz="6400" dirty="0"/>
          </a:p>
        </p:txBody>
      </p:sp>
      <p:sp>
        <p:nvSpPr>
          <p:cNvPr id="4" name="Text 2"/>
          <p:cNvSpPr txBox="1"/>
          <p:nvPr/>
        </p:nvSpPr>
        <p:spPr>
          <a:xfrm>
            <a:off x="548640" y="1280160"/>
            <a:ext cx="4572000" cy="365760"/>
          </a:xfrm>
          <a:prstGeom prst="rect">
            <a:avLst/>
          </a:prstGeom>
          <a:noFill/>
          <a:ln/>
        </p:spPr>
        <p:txBody>
          <a:bodyPr wrap="square" lIns="0" tIns="0" rIns="0" bIns="0" rtlCol="0" anchor="t"/>
          <a:lstStyle/>
          <a:p>
            <a:pPr marL="0" indent="0">
              <a:buNone/>
            </a:pPr>
            <a:r>
              <a:rPr lang="en-US" sz="1600" b="1" dirty="0">
                <a:solidFill>
                  <a:srgbClr val="F57C00"/>
                </a:solidFill>
                <a:latin typeface="Calibri" pitchFamily="34" charset="0"/>
                <a:ea typeface="Calibri" pitchFamily="34" charset="-122"/>
                <a:cs typeface="Calibri" pitchFamily="34" charset="-120"/>
              </a:rPr>
              <a:t>STRETCH 5.12</a:t>
            </a:r>
            <a:endParaRPr lang="en-US" sz="1600" dirty="0"/>
          </a:p>
        </p:txBody>
      </p:sp>
      <p:sp>
        <p:nvSpPr>
          <p:cNvPr id="5" name="Text 3"/>
          <p:cNvSpPr txBox="1"/>
          <p:nvPr/>
        </p:nvSpPr>
        <p:spPr>
          <a:xfrm>
            <a:off x="548640" y="1737360"/>
            <a:ext cx="5120640" cy="109728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Where does the model struggle?</a:t>
            </a:r>
            <a:endParaRPr lang="en-US" sz="3400" dirty="0"/>
          </a:p>
        </p:txBody>
      </p:sp>
      <p:sp>
        <p:nvSpPr>
          <p:cNvPr id="6" name="Text 4"/>
          <p:cNvSpPr txBox="1"/>
          <p:nvPr/>
        </p:nvSpPr>
        <p:spPr>
          <a:xfrm>
            <a:off x="548640" y="3017520"/>
            <a:ext cx="5120640" cy="731520"/>
          </a:xfrm>
          <a:prstGeom prst="rect">
            <a:avLst/>
          </a:prstGeom>
          <a:noFill/>
          <a:ln/>
        </p:spPr>
        <p:txBody>
          <a:bodyPr wrap="square" lIns="0" tIns="0" rIns="0" bIns="0" rtlCol="0" anchor="t"/>
          <a:lstStyle/>
          <a:p>
            <a:pPr marL="0" indent="0">
              <a:buNone/>
            </a:pPr>
            <a:r>
              <a:rPr lang="en-US" sz="1500" dirty="0">
                <a:solidFill>
                  <a:srgbClr val="D0D5DB"/>
                </a:solidFill>
                <a:latin typeface="Calibri" pitchFamily="34" charset="0"/>
                <a:ea typeface="Calibri" pitchFamily="34" charset="-122"/>
                <a:cs typeface="Calibri" pitchFamily="34" charset="-120"/>
              </a:rPr>
              <a:t>Optional stretch: K-Means segments on income, score, FOIR, job years and age, used to understand the applicant base, never fed back into the model</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Choosing the number of segments</a:t>
            </a:r>
            <a:endParaRPr lang="en-US" sz="2800" dirty="0"/>
          </a:p>
        </p:txBody>
      </p:sp>
      <p:sp>
        <p:nvSpPr>
          <p:cNvPr id="3" name="Shape 1"/>
          <p:cNvSpPr/>
          <p:nvPr/>
        </p:nvSpPr>
        <p:spPr>
          <a:xfrm>
            <a:off x="7315200" y="347472"/>
            <a:ext cx="1371600" cy="329184"/>
          </a:xfrm>
          <a:prstGeom prst="roundRect">
            <a:avLst>
              <a:gd name="adj" fmla="val 27778"/>
            </a:avLst>
          </a:prstGeom>
          <a:solidFill>
            <a:srgbClr val="1565C0"/>
          </a:solidFill>
          <a:ln w="12700">
            <a:solidFill>
              <a:srgbClr val="1565C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STRETCH 5.12</a:t>
            </a:r>
            <a:endParaRPr lang="en-US" sz="1200" dirty="0"/>
          </a:p>
        </p:txBody>
      </p:sp>
      <p:graphicFrame>
        <p:nvGraphicFramePr>
          <p:cNvPr id="5" name="Chart 0"/>
          <p:cNvGraphicFramePr/>
          <p:nvPr/>
        </p:nvGraphicFramePr>
        <p:xfrm>
          <a:off x="365760" y="914400"/>
          <a:ext cx="4206240" cy="29260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663440" y="914400"/>
          <a:ext cx="4114800" cy="292608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txBox="1"/>
          <p:nvPr/>
        </p:nvSpPr>
        <p:spPr>
          <a:xfrm>
            <a:off x="457200" y="3977640"/>
            <a:ext cx="8229600" cy="822960"/>
          </a:xfrm>
          <a:prstGeom prst="rect">
            <a:avLst/>
          </a:prstGeom>
          <a:noFill/>
          <a:ln/>
        </p:spPr>
        <p:txBody>
          <a:bodyPr wrap="square" lIns="0" tIns="0" rIns="0" bIns="0" rtlCol="0" anchor="t"/>
          <a:lstStyle/>
          <a:p>
            <a:pPr marL="0" indent="0">
              <a:buNone/>
            </a:pPr>
            <a:r>
              <a:rPr lang="en-US" sz="1400" dirty="0">
                <a:solidFill>
                  <a:srgbClr val="111111"/>
                </a:solidFill>
                <a:latin typeface="Calibri" pitchFamily="34" charset="0"/>
                <a:ea typeface="Calibri" pitchFamily="34" charset="-122"/>
                <a:cs typeface="Calibri" pitchFamily="34" charset="-120"/>
              </a:rPr>
              <a:t>The elbow is gentle with no sharp break; silhouette is flat at about 0.21 for k = 2–4 and weaker beyond. I chose k = 4 as the most interpretable split: a judgement call, not a statistical optimum.</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69053" y="-36576"/>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Four applicant segments</a:t>
            </a:r>
            <a:endParaRPr lang="en-US" sz="2800" dirty="0"/>
          </a:p>
        </p:txBody>
      </p:sp>
      <p:sp>
        <p:nvSpPr>
          <p:cNvPr id="3" name="Shape 1"/>
          <p:cNvSpPr/>
          <p:nvPr/>
        </p:nvSpPr>
        <p:spPr>
          <a:xfrm>
            <a:off x="7315200" y="96860"/>
            <a:ext cx="1371600" cy="329184"/>
          </a:xfrm>
          <a:prstGeom prst="roundRect">
            <a:avLst>
              <a:gd name="adj" fmla="val 27778"/>
            </a:avLst>
          </a:prstGeom>
          <a:solidFill>
            <a:srgbClr val="1565C0"/>
          </a:solidFill>
          <a:ln w="12700">
            <a:solidFill>
              <a:srgbClr val="1565C0"/>
            </a:solidFill>
            <a:prstDash val="solid"/>
          </a:ln>
        </p:spPr>
      </p:sp>
      <p:sp>
        <p:nvSpPr>
          <p:cNvPr id="4" name="Text 2"/>
          <p:cNvSpPr txBox="1"/>
          <p:nvPr/>
        </p:nvSpPr>
        <p:spPr>
          <a:xfrm>
            <a:off x="7315200" y="96860"/>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STRETCH 5.12</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648621903"/>
              </p:ext>
            </p:extLst>
          </p:nvPr>
        </p:nvGraphicFramePr>
        <p:xfrm>
          <a:off x="469053" y="504108"/>
          <a:ext cx="7020560" cy="1554480"/>
        </p:xfrm>
        <a:graphic>
          <a:graphicData uri="http://schemas.openxmlformats.org/drawingml/2006/table">
            <a:tbl>
              <a:tblPr/>
              <a:tblGrid>
                <a:gridCol w="2106166">
                  <a:extLst>
                    <a:ext uri="{9D8B030D-6E8A-4147-A177-3AD203B41FA5}">
                      <a16:colId xmlns:a16="http://schemas.microsoft.com/office/drawing/2014/main" val="20000"/>
                    </a:ext>
                  </a:extLst>
                </a:gridCol>
                <a:gridCol w="858069">
                  <a:extLst>
                    <a:ext uri="{9D8B030D-6E8A-4147-A177-3AD203B41FA5}">
                      <a16:colId xmlns:a16="http://schemas.microsoft.com/office/drawing/2014/main" val="20001"/>
                    </a:ext>
                  </a:extLst>
                </a:gridCol>
                <a:gridCol w="858069">
                  <a:extLst>
                    <a:ext uri="{9D8B030D-6E8A-4147-A177-3AD203B41FA5}">
                      <a16:colId xmlns:a16="http://schemas.microsoft.com/office/drawing/2014/main" val="20002"/>
                    </a:ext>
                  </a:extLst>
                </a:gridCol>
                <a:gridCol w="702056">
                  <a:extLst>
                    <a:ext uri="{9D8B030D-6E8A-4147-A177-3AD203B41FA5}">
                      <a16:colId xmlns:a16="http://schemas.microsoft.com/office/drawing/2014/main" val="20003"/>
                    </a:ext>
                  </a:extLst>
                </a:gridCol>
                <a:gridCol w="702056">
                  <a:extLst>
                    <a:ext uri="{9D8B030D-6E8A-4147-A177-3AD203B41FA5}">
                      <a16:colId xmlns:a16="http://schemas.microsoft.com/office/drawing/2014/main" val="20004"/>
                    </a:ext>
                  </a:extLst>
                </a:gridCol>
                <a:gridCol w="858069">
                  <a:extLst>
                    <a:ext uri="{9D8B030D-6E8A-4147-A177-3AD203B41FA5}">
                      <a16:colId xmlns:a16="http://schemas.microsoft.com/office/drawing/2014/main" val="20005"/>
                    </a:ext>
                  </a:extLst>
                </a:gridCol>
                <a:gridCol w="936075">
                  <a:extLst>
                    <a:ext uri="{9D8B030D-6E8A-4147-A177-3AD203B41FA5}">
                      <a16:colId xmlns:a16="http://schemas.microsoft.com/office/drawing/2014/main" val="20006"/>
                    </a:ext>
                  </a:extLst>
                </a:gridCol>
              </a:tblGrid>
              <a:tr h="433443">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Segment</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Applicants</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Income</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Score</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FOIR</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Approval</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Model error</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111111"/>
                    </a:solidFill>
                  </a:tcPr>
                </a:tc>
                <a:extLst>
                  <a:ext uri="{0D108BD9-81ED-4DB2-BD59-A6C34878D82A}">
                    <a16:rowId xmlns:a16="http://schemas.microsoft.com/office/drawing/2014/main" val="10000"/>
                  </a:ext>
                </a:extLst>
              </a:tr>
              <a:tr h="260066">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Early-career mainstream</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5,869</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42,500</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714</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0.28</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1"/>
                  </a:ext>
                </a:extLst>
              </a:tr>
              <a:tr h="260066">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Over-stretched borrowers</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1,878</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48,500</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731</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0.65</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0066">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Established stable earners</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2,568</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54,500</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743</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0.29</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68%</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tc>
                  <a:txBody>
                    <a:bodyPr/>
                    <a:lstStyle/>
                    <a:p>
                      <a:pPr marL="0" indent="0" algn="ctr">
                        <a:buNone/>
                      </a:pPr>
                      <a:r>
                        <a:rPr lang="en-US" sz="1200" dirty="0">
                          <a:solidFill>
                            <a:srgbClr val="111111"/>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2F4F7"/>
                    </a:solidFill>
                  </a:tcPr>
                </a:tc>
                <a:extLst>
                  <a:ext uri="{0D108BD9-81ED-4DB2-BD59-A6C34878D82A}">
                    <a16:rowId xmlns:a16="http://schemas.microsoft.com/office/drawing/2014/main" val="10003"/>
                  </a:ext>
                </a:extLst>
              </a:tr>
              <a:tr h="260066">
                <a:tc>
                  <a:txBody>
                    <a:bodyPr/>
                    <a:lstStyle/>
                    <a:p>
                      <a:pPr marL="0" indent="0" algn="l">
                        <a:buNone/>
                      </a:pPr>
                      <a:r>
                        <a:rPr lang="en-US" sz="1200" b="1" dirty="0">
                          <a:solidFill>
                            <a:srgbClr val="111111"/>
                          </a:solidFill>
                          <a:latin typeface="Calibri" pitchFamily="34" charset="0"/>
                          <a:ea typeface="Calibri" pitchFamily="34" charset="-122"/>
                          <a:cs typeface="Calibri" pitchFamily="34" charset="-120"/>
                        </a:rPr>
                        <a:t>High-income professionals</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E0B2"/>
                    </a:solidFill>
                  </a:tcPr>
                </a:tc>
                <a:tc>
                  <a:txBody>
                    <a:bodyPr/>
                    <a:lstStyle/>
                    <a:p>
                      <a:pPr marL="0" indent="0" algn="ctr">
                        <a:buNone/>
                      </a:pPr>
                      <a:r>
                        <a:rPr lang="en-US" sz="1200" b="1" dirty="0">
                          <a:solidFill>
                            <a:srgbClr val="111111"/>
                          </a:solidFill>
                          <a:latin typeface="Calibri" pitchFamily="34" charset="0"/>
                          <a:ea typeface="Calibri" pitchFamily="34" charset="-122"/>
                          <a:cs typeface="Calibri" pitchFamily="34" charset="-120"/>
                        </a:rPr>
                        <a:t>1,685</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E0B2"/>
                    </a:solidFill>
                  </a:tcPr>
                </a:tc>
                <a:tc>
                  <a:txBody>
                    <a:bodyPr/>
                    <a:lstStyle/>
                    <a:p>
                      <a:pPr marL="0" indent="0" algn="ctr">
                        <a:buNone/>
                      </a:pPr>
                      <a:r>
                        <a:rPr lang="en-US" sz="1200" b="1" dirty="0">
                          <a:solidFill>
                            <a:srgbClr val="111111"/>
                          </a:solidFill>
                          <a:latin typeface="Calibri" pitchFamily="34" charset="0"/>
                          <a:ea typeface="Calibri" pitchFamily="34" charset="-122"/>
                          <a:cs typeface="Calibri" pitchFamily="34" charset="-120"/>
                        </a:rPr>
                        <a:t>112,500</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E0B2"/>
                    </a:solidFill>
                  </a:tcPr>
                </a:tc>
                <a:tc>
                  <a:txBody>
                    <a:bodyPr/>
                    <a:lstStyle/>
                    <a:p>
                      <a:pPr marL="0" indent="0" algn="ctr">
                        <a:buNone/>
                      </a:pPr>
                      <a:r>
                        <a:rPr lang="en-US" sz="1200" b="1" dirty="0">
                          <a:solidFill>
                            <a:srgbClr val="111111"/>
                          </a:solidFill>
                          <a:latin typeface="Calibri" pitchFamily="34" charset="0"/>
                          <a:ea typeface="Calibri" pitchFamily="34" charset="-122"/>
                          <a:cs typeface="Calibri" pitchFamily="34" charset="-120"/>
                        </a:rPr>
                        <a:t>730</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E0B2"/>
                    </a:solidFill>
                  </a:tcPr>
                </a:tc>
                <a:tc>
                  <a:txBody>
                    <a:bodyPr/>
                    <a:lstStyle/>
                    <a:p>
                      <a:pPr marL="0" indent="0" algn="ctr">
                        <a:buNone/>
                      </a:pPr>
                      <a:r>
                        <a:rPr lang="en-US" sz="1200" b="1" dirty="0">
                          <a:solidFill>
                            <a:srgbClr val="111111"/>
                          </a:solidFill>
                          <a:latin typeface="Calibri" pitchFamily="34" charset="0"/>
                          <a:ea typeface="Calibri" pitchFamily="34" charset="-122"/>
                          <a:cs typeface="Calibri" pitchFamily="34" charset="-120"/>
                        </a:rPr>
                        <a:t>0.31</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E0B2"/>
                    </a:solidFill>
                  </a:tcPr>
                </a:tc>
                <a:tc>
                  <a:txBody>
                    <a:bodyPr/>
                    <a:lstStyle/>
                    <a:p>
                      <a:pPr marL="0" indent="0" algn="ctr">
                        <a:buNone/>
                      </a:pPr>
                      <a:r>
                        <a:rPr lang="en-US" sz="1200" b="1" dirty="0">
                          <a:solidFill>
                            <a:srgbClr val="111111"/>
                          </a:solidFill>
                          <a:latin typeface="Calibri" pitchFamily="34" charset="0"/>
                          <a:ea typeface="Calibri" pitchFamily="34" charset="-122"/>
                          <a:cs typeface="Calibri" pitchFamily="34" charset="-120"/>
                        </a:rPr>
                        <a:t>59%</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E0B2"/>
                    </a:solidFill>
                  </a:tcPr>
                </a:tc>
                <a:tc>
                  <a:txBody>
                    <a:bodyPr/>
                    <a:lstStyle/>
                    <a:p>
                      <a:pPr marL="0" indent="0" algn="ctr">
                        <a:buNone/>
                      </a:pPr>
                      <a:r>
                        <a:rPr lang="en-US" sz="1200" b="1" dirty="0">
                          <a:solidFill>
                            <a:srgbClr val="111111"/>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anchor="ctr">
                    <a:lnL w="6350" cap="flat" cmpd="sng" algn="ctr">
                      <a:solidFill>
                        <a:srgbClr val="D0D5DB"/>
                      </a:solidFill>
                      <a:prstDash val="solid"/>
                      <a:round/>
                      <a:headEnd type="none" w="med" len="med"/>
                      <a:tailEnd type="none" w="med" len="med"/>
                    </a:lnL>
                    <a:lnR w="6350" cap="flat" cmpd="sng" algn="ctr">
                      <a:solidFill>
                        <a:srgbClr val="D0D5DB"/>
                      </a:solidFill>
                      <a:prstDash val="solid"/>
                      <a:round/>
                      <a:headEnd type="none" w="med" len="med"/>
                      <a:tailEnd type="none" w="med" len="med"/>
                    </a:lnR>
                    <a:lnT w="6350" cap="flat" cmpd="sng" algn="ctr">
                      <a:solidFill>
                        <a:srgbClr val="D0D5DB"/>
                      </a:solidFill>
                      <a:prstDash val="solid"/>
                      <a:round/>
                      <a:headEnd type="none" w="med" len="med"/>
                      <a:tailEnd type="none" w="med" len="med"/>
                    </a:lnT>
                    <a:lnB w="6350" cap="flat" cmpd="sng" algn="ctr">
                      <a:solidFill>
                        <a:srgbClr val="D0D5DB"/>
                      </a:solidFill>
                      <a:prstDash val="solid"/>
                      <a:round/>
                      <a:headEnd type="none" w="med" len="med"/>
                      <a:tailEnd type="none" w="med" len="med"/>
                    </a:lnB>
                    <a:solidFill>
                      <a:srgbClr val="FFE0B2"/>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765386" y="4111099"/>
            <a:ext cx="7660641" cy="887621"/>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100" dirty="0">
                <a:solidFill>
                  <a:srgbClr val="111111"/>
                </a:solidFill>
                <a:latin typeface="Calibri" pitchFamily="34" charset="0"/>
                <a:ea typeface="Calibri" pitchFamily="34" charset="-122"/>
                <a:cs typeface="Calibri" pitchFamily="34" charset="-120"/>
              </a:rPr>
              <a:t>Early-career: about 29 years old, 2.4 years in job, 21% gig. </a:t>
            </a:r>
          </a:p>
          <a:p>
            <a:pPr marL="171450" indent="-171450">
              <a:buFont typeface="Arial" panose="020B0604020202020204" pitchFamily="34" charset="0"/>
              <a:buChar char="•"/>
            </a:pPr>
            <a:r>
              <a:rPr lang="en-US" sz="1100" dirty="0">
                <a:solidFill>
                  <a:srgbClr val="111111"/>
                </a:solidFill>
                <a:latin typeface="Calibri" pitchFamily="34" charset="0"/>
                <a:ea typeface="Calibri" pitchFamily="34" charset="-122"/>
                <a:cs typeface="Calibri" pitchFamily="34" charset="-120"/>
              </a:rPr>
              <a:t>Established: about 7.6 years in job, age 40, best score. </a:t>
            </a:r>
          </a:p>
          <a:p>
            <a:pPr marL="171450" indent="-171450">
              <a:buFont typeface="Arial" panose="020B0604020202020204" pitchFamily="34" charset="0"/>
              <a:buChar char="•"/>
            </a:pPr>
            <a:r>
              <a:rPr lang="en-US" sz="1100" dirty="0">
                <a:solidFill>
                  <a:srgbClr val="111111"/>
                </a:solidFill>
                <a:latin typeface="Calibri" pitchFamily="34" charset="0"/>
                <a:ea typeface="Calibri" pitchFamily="34" charset="-122"/>
                <a:cs typeface="Calibri" pitchFamily="34" charset="-120"/>
              </a:rPr>
              <a:t>Over-stretched: median FOIR 0.65. </a:t>
            </a:r>
          </a:p>
          <a:p>
            <a:pPr marL="171450" indent="-171450">
              <a:buFont typeface="Arial" panose="020B0604020202020204" pitchFamily="34" charset="0"/>
              <a:buChar char="•"/>
            </a:pPr>
            <a:r>
              <a:rPr lang="en-US" sz="1100" dirty="0">
                <a:solidFill>
                  <a:srgbClr val="111111"/>
                </a:solidFill>
                <a:latin typeface="Calibri" pitchFamily="34" charset="0"/>
                <a:ea typeface="Calibri" pitchFamily="34" charset="-122"/>
                <a:cs typeface="Calibri" pitchFamily="34" charset="-120"/>
              </a:rPr>
              <a:t>High-income: median income 112,500, only 2% gig. </a:t>
            </a:r>
          </a:p>
          <a:p>
            <a:pPr marL="171450" indent="-171450">
              <a:buFont typeface="Arial" panose="020B0604020202020204" pitchFamily="34" charset="0"/>
              <a:buChar char="•"/>
            </a:pPr>
            <a:r>
              <a:rPr lang="en-US" sz="1100" dirty="0">
                <a:solidFill>
                  <a:srgbClr val="111111"/>
                </a:solidFill>
                <a:latin typeface="Calibri" pitchFamily="34" charset="0"/>
                <a:ea typeface="Calibri" pitchFamily="34" charset="-122"/>
                <a:cs typeface="Calibri" pitchFamily="34" charset="-120"/>
              </a:rPr>
              <a:t>Model error is for Gradient Boosting on the test set; labels are for description only.</a:t>
            </a:r>
            <a:endParaRPr lang="en-US" sz="1100" dirty="0"/>
          </a:p>
        </p:txBody>
      </p:sp>
      <p:pic>
        <p:nvPicPr>
          <p:cNvPr id="11" name="Picture 10">
            <a:extLst>
              <a:ext uri="{FF2B5EF4-FFF2-40B4-BE49-F238E27FC236}">
                <a16:creationId xmlns:a16="http://schemas.microsoft.com/office/drawing/2014/main" id="{681C5FDA-93F9-C4E8-D726-939AFF2BE1F2}"/>
              </a:ext>
            </a:extLst>
          </p:cNvPr>
          <p:cNvPicPr>
            <a:picLocks noChangeAspect="1"/>
          </p:cNvPicPr>
          <p:nvPr/>
        </p:nvPicPr>
        <p:blipFill>
          <a:blip r:embed="rId3"/>
          <a:stretch>
            <a:fillRect/>
          </a:stretch>
        </p:blipFill>
        <p:spPr>
          <a:xfrm>
            <a:off x="1208803" y="2220404"/>
            <a:ext cx="5456393" cy="160289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6766560" cy="548640"/>
          </a:xfrm>
          <a:prstGeom prst="rect">
            <a:avLst/>
          </a:prstGeom>
          <a:noFill/>
          <a:ln/>
        </p:spPr>
        <p:txBody>
          <a:bodyPr wrap="square" lIns="0" tIns="0" rIns="0" bIns="0" rtlCol="0" anchor="ctr"/>
          <a:lstStyle/>
          <a:p>
            <a:pPr marL="0" indent="0">
              <a:buNone/>
            </a:pPr>
            <a:r>
              <a:rPr lang="en-US" sz="2800" b="1" dirty="0">
                <a:solidFill>
                  <a:srgbClr val="111111"/>
                </a:solidFill>
                <a:latin typeface="Calibri" pitchFamily="34" charset="0"/>
                <a:ea typeface="Calibri" pitchFamily="34" charset="-122"/>
                <a:cs typeface="Calibri" pitchFamily="34" charset="-120"/>
              </a:rPr>
              <a:t>Approval rate vs model error</a:t>
            </a:r>
            <a:endParaRPr lang="en-US" sz="2800" dirty="0"/>
          </a:p>
        </p:txBody>
      </p:sp>
      <p:sp>
        <p:nvSpPr>
          <p:cNvPr id="3" name="Shape 1"/>
          <p:cNvSpPr/>
          <p:nvPr/>
        </p:nvSpPr>
        <p:spPr>
          <a:xfrm>
            <a:off x="7315200" y="347472"/>
            <a:ext cx="1371600" cy="329184"/>
          </a:xfrm>
          <a:prstGeom prst="roundRect">
            <a:avLst>
              <a:gd name="adj" fmla="val 27778"/>
            </a:avLst>
          </a:prstGeom>
          <a:solidFill>
            <a:srgbClr val="1565C0"/>
          </a:solidFill>
          <a:ln w="12700">
            <a:solidFill>
              <a:srgbClr val="1565C0"/>
            </a:solidFill>
            <a:prstDash val="solid"/>
          </a:ln>
        </p:spPr>
      </p:sp>
      <p:sp>
        <p:nvSpPr>
          <p:cNvPr id="4" name="Text 2"/>
          <p:cNvSpPr txBox="1"/>
          <p:nvPr/>
        </p:nvSpPr>
        <p:spPr>
          <a:xfrm>
            <a:off x="7315200" y="347472"/>
            <a:ext cx="137160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STRETCH 5.12</a:t>
            </a:r>
            <a:endParaRPr lang="en-US" sz="1200" dirty="0"/>
          </a:p>
        </p:txBody>
      </p:sp>
      <p:graphicFrame>
        <p:nvGraphicFramePr>
          <p:cNvPr id="5" name="Chart 0"/>
          <p:cNvGraphicFramePr/>
          <p:nvPr>
            <p:extLst>
              <p:ext uri="{D42A27DB-BD31-4B8C-83A1-F6EECF244321}">
                <p14:modId xmlns:p14="http://schemas.microsoft.com/office/powerpoint/2010/main" val="3587965698"/>
              </p:ext>
            </p:extLst>
          </p:nvPr>
        </p:nvGraphicFramePr>
        <p:xfrm>
          <a:off x="365760" y="914400"/>
          <a:ext cx="493776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577840" y="1005840"/>
            <a:ext cx="3108960" cy="1097280"/>
          </a:xfrm>
          <a:prstGeom prst="roundRect">
            <a:avLst>
              <a:gd name="adj" fmla="val 6667"/>
            </a:avLst>
          </a:prstGeom>
          <a:solidFill>
            <a:srgbClr val="F2F4F7"/>
          </a:solidFill>
          <a:ln w="12700">
            <a:solidFill>
              <a:srgbClr val="F2F4F7"/>
            </a:solidFill>
            <a:prstDash val="solid"/>
          </a:ln>
          <a:effectLst>
            <a:outerShdw blurRad="76200" dist="25400" dir="5400000" algn="bl" rotWithShape="0">
              <a:srgbClr val="000000">
                <a:alpha val="12000"/>
              </a:srgbClr>
            </a:outerShdw>
          </a:effectLst>
        </p:spPr>
      </p:sp>
      <p:sp>
        <p:nvSpPr>
          <p:cNvPr id="7" name="Text 4"/>
          <p:cNvSpPr txBox="1"/>
          <p:nvPr/>
        </p:nvSpPr>
        <p:spPr>
          <a:xfrm>
            <a:off x="5715000" y="1097280"/>
            <a:ext cx="2834640" cy="493776"/>
          </a:xfrm>
          <a:prstGeom prst="rect">
            <a:avLst/>
          </a:prstGeom>
          <a:noFill/>
          <a:ln/>
        </p:spPr>
        <p:txBody>
          <a:bodyPr wrap="square" lIns="0" tIns="0" rIns="0" bIns="0" rtlCol="0" anchor="ctr"/>
          <a:lstStyle/>
          <a:p>
            <a:pPr marL="0" indent="0">
              <a:buNone/>
            </a:pPr>
            <a:r>
              <a:rPr lang="en-US" sz="3000" b="1" dirty="0">
                <a:solidFill>
                  <a:srgbClr val="F57C00"/>
                </a:solidFill>
                <a:latin typeface="Calibri" pitchFamily="34" charset="0"/>
                <a:ea typeface="Calibri" pitchFamily="34" charset="-122"/>
                <a:cs typeface="Calibri" pitchFamily="34" charset="-120"/>
              </a:rPr>
              <a:t>26.6%</a:t>
            </a:r>
            <a:endParaRPr lang="en-US" sz="3000" dirty="0"/>
          </a:p>
        </p:txBody>
      </p:sp>
      <p:sp>
        <p:nvSpPr>
          <p:cNvPr id="8" name="Text 5"/>
          <p:cNvSpPr txBox="1"/>
          <p:nvPr/>
        </p:nvSpPr>
        <p:spPr>
          <a:xfrm>
            <a:off x="5715000" y="1609344"/>
            <a:ext cx="2834640" cy="438912"/>
          </a:xfrm>
          <a:prstGeom prst="rect">
            <a:avLst/>
          </a:prstGeom>
          <a:noFill/>
          <a:ln/>
        </p:spPr>
        <p:txBody>
          <a:bodyPr wrap="square" lIns="0" tIns="0" rIns="0" bIns="0" rtlCol="0" anchor="t"/>
          <a:lstStyle/>
          <a:p>
            <a:pPr marL="0" indent="0">
              <a:buNone/>
            </a:pPr>
            <a:r>
              <a:rPr lang="en-US" sz="1300" dirty="0">
                <a:solidFill>
                  <a:srgbClr val="111111"/>
                </a:solidFill>
                <a:latin typeface="Calibri" pitchFamily="34" charset="0"/>
                <a:ea typeface="Calibri" pitchFamily="34" charset="-122"/>
                <a:cs typeface="Calibri" pitchFamily="34" charset="-120"/>
              </a:rPr>
              <a:t>model error for High-income professionals</a:t>
            </a:r>
            <a:endParaRPr lang="en-US" sz="1300" dirty="0"/>
          </a:p>
        </p:txBody>
      </p:sp>
      <p:sp>
        <p:nvSpPr>
          <p:cNvPr id="9" name="Text 6"/>
          <p:cNvSpPr txBox="1"/>
          <p:nvPr/>
        </p:nvSpPr>
        <p:spPr>
          <a:xfrm>
            <a:off x="5577840" y="2286000"/>
            <a:ext cx="3108960" cy="24688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11111"/>
                </a:solidFill>
                <a:latin typeface="Calibri" pitchFamily="34" charset="0"/>
                <a:ea typeface="Calibri" pitchFamily="34" charset="-122"/>
                <a:cs typeface="Calibri" pitchFamily="34" charset="-120"/>
              </a:rPr>
              <a:t>Always keep High-income professionals with an analyst: highest error, near coin-flip approval, and decisions hinge on income verification and loan size</a:t>
            </a:r>
            <a:endParaRPr lang="en-US" sz="1250" dirty="0"/>
          </a:p>
          <a:p>
            <a:pPr marL="342900" indent="-342900">
              <a:spcAft>
                <a:spcPts val="800"/>
              </a:spcAft>
              <a:buSzPct val="100000"/>
              <a:buChar char="•"/>
            </a:pPr>
            <a:r>
              <a:rPr lang="en-US" sz="1250" dirty="0">
                <a:solidFill>
                  <a:srgbClr val="111111"/>
                </a:solidFill>
                <a:latin typeface="Calibri" pitchFamily="34" charset="0"/>
                <a:ea typeface="Calibri" pitchFamily="34" charset="-122"/>
                <a:cs typeface="Calibri" pitchFamily="34" charset="-120"/>
              </a:rPr>
              <a:t>Over-stretched borrowers are where the model is most reliable (14% error): 51% auto-declined, 3% fast-tracked</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4E1F1E5D-55FD-99AB-F14A-40E288DA0FB2}"/>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3D2A153C-5AC2-DE83-0F08-9BA1002E60EF}"/>
              </a:ext>
            </a:extLst>
          </p:cNvPr>
          <p:cNvSpPr txBox="1"/>
          <p:nvPr/>
        </p:nvSpPr>
        <p:spPr>
          <a:xfrm>
            <a:off x="2255521" y="1865207"/>
            <a:ext cx="4362027" cy="706543"/>
          </a:xfrm>
          <a:prstGeom prst="rect">
            <a:avLst/>
          </a:prstGeom>
          <a:noFill/>
          <a:ln/>
        </p:spPr>
        <p:txBody>
          <a:bodyPr wrap="square" lIns="0" tIns="0" rIns="0" bIns="0" rtlCol="0" anchor="t"/>
          <a:lstStyle/>
          <a:p>
            <a:pPr marL="0" indent="0">
              <a:buNone/>
            </a:pPr>
            <a:r>
              <a:rPr lang="en-US" sz="5400" b="1" dirty="0">
                <a:solidFill>
                  <a:srgbClr val="F57C00"/>
                </a:solidFill>
                <a:latin typeface="Arial Rounded MT Bold" panose="020F0704030504030204" pitchFamily="34" charset="0"/>
                <a:ea typeface="Calibri" pitchFamily="34" charset="-122"/>
                <a:cs typeface="Calibri" pitchFamily="34" charset="-120"/>
              </a:rPr>
              <a:t>THANKYOU</a:t>
            </a:r>
            <a:endParaRPr lang="en-US" sz="5400" dirty="0">
              <a:latin typeface="Arial Rounded MT Bold" panose="020F0704030504030204" pitchFamily="34" charset="0"/>
            </a:endParaRPr>
          </a:p>
        </p:txBody>
      </p:sp>
      <p:sp>
        <p:nvSpPr>
          <p:cNvPr id="5" name="Text 3">
            <a:extLst>
              <a:ext uri="{FF2B5EF4-FFF2-40B4-BE49-F238E27FC236}">
                <a16:creationId xmlns:a16="http://schemas.microsoft.com/office/drawing/2014/main" id="{57EEE67F-1D46-97F8-A0E6-A9F5CABF72F7}"/>
              </a:ext>
            </a:extLst>
          </p:cNvPr>
          <p:cNvSpPr txBox="1"/>
          <p:nvPr/>
        </p:nvSpPr>
        <p:spPr>
          <a:xfrm>
            <a:off x="2384214" y="2658745"/>
            <a:ext cx="6312746" cy="706543"/>
          </a:xfrm>
          <a:prstGeom prst="rect">
            <a:avLst/>
          </a:prstGeom>
          <a:noFill/>
          <a:ln/>
        </p:spPr>
        <p:txBody>
          <a:bodyPr wrap="square" lIns="0" tIns="0" rIns="0" bIns="0" rtlCol="0" anchor="t"/>
          <a:lstStyle/>
          <a:p>
            <a:pPr marL="0" indent="0">
              <a:buNone/>
            </a:pPr>
            <a:r>
              <a:rPr lang="en-US" sz="3200" dirty="0">
                <a:solidFill>
                  <a:schemeClr val="bg1"/>
                </a:solidFill>
                <a:latin typeface="Arial Rounded MT Bold" panose="020F0704030504030204" pitchFamily="34" charset="0"/>
              </a:rPr>
              <a:t>ANY QUESTIONS ?</a:t>
            </a:r>
          </a:p>
        </p:txBody>
      </p:sp>
    </p:spTree>
    <p:extLst>
      <p:ext uri="{BB962C8B-B14F-4D97-AF65-F5344CB8AC3E}">
        <p14:creationId xmlns:p14="http://schemas.microsoft.com/office/powerpoint/2010/main" val="3076908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1018</TotalTime>
  <Words>2898</Words>
  <Application>Microsoft Office PowerPoint</Application>
  <PresentationFormat>On-screen Show (16:9)</PresentationFormat>
  <Paragraphs>450</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Arial Rounded MT Bold</vt:lpstr>
      <vt:lpstr>Bahnschrift Condensed</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Pre-Screening Engine</dc:title>
  <dc:subject>PptxGenJS Presentation</dc:subject>
  <dc:creator>PptxGenJS</dc:creator>
  <cp:lastModifiedBy>Vignesh Guthi</cp:lastModifiedBy>
  <cp:revision>23</cp:revision>
  <dcterms:created xsi:type="dcterms:W3CDTF">2026-10-23T10:33:01Z</dcterms:created>
  <dcterms:modified xsi:type="dcterms:W3CDTF">2026-10-27T09:12:11Z</dcterms:modified>
</cp:coreProperties>
</file>